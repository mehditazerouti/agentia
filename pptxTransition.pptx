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ptos"/>
      </a:defRPr>
    </a:lvl1pPr>
    <a:lvl2pPr indent="228600" latinLnBrk="0">
      <a:defRPr sz="1200">
        <a:latin typeface="+mn-lt"/>
        <a:ea typeface="+mn-ea"/>
        <a:cs typeface="+mn-cs"/>
        <a:sym typeface="Aptos"/>
      </a:defRPr>
    </a:lvl2pPr>
    <a:lvl3pPr indent="457200" latinLnBrk="0">
      <a:defRPr sz="1200">
        <a:latin typeface="+mn-lt"/>
        <a:ea typeface="+mn-ea"/>
        <a:cs typeface="+mn-cs"/>
        <a:sym typeface="Aptos"/>
      </a:defRPr>
    </a:lvl3pPr>
    <a:lvl4pPr indent="685800" latinLnBrk="0">
      <a:defRPr sz="1200">
        <a:latin typeface="+mn-lt"/>
        <a:ea typeface="+mn-ea"/>
        <a:cs typeface="+mn-cs"/>
        <a:sym typeface="Aptos"/>
      </a:defRPr>
    </a:lvl4pPr>
    <a:lvl5pPr indent="914400" latinLnBrk="0">
      <a:defRPr sz="1200">
        <a:latin typeface="+mn-lt"/>
        <a:ea typeface="+mn-ea"/>
        <a:cs typeface="+mn-cs"/>
        <a:sym typeface="Aptos"/>
      </a:defRPr>
    </a:lvl5pPr>
    <a:lvl6pPr indent="1143000" latinLnBrk="0">
      <a:defRPr sz="1200">
        <a:latin typeface="+mn-lt"/>
        <a:ea typeface="+mn-ea"/>
        <a:cs typeface="+mn-cs"/>
        <a:sym typeface="Aptos"/>
      </a:defRPr>
    </a:lvl6pPr>
    <a:lvl7pPr indent="1371600" latinLnBrk="0">
      <a:defRPr sz="1200">
        <a:latin typeface="+mn-lt"/>
        <a:ea typeface="+mn-ea"/>
        <a:cs typeface="+mn-cs"/>
        <a:sym typeface="Aptos"/>
      </a:defRPr>
    </a:lvl7pPr>
    <a:lvl8pPr indent="1600200" latinLnBrk="0">
      <a:defRPr sz="1200">
        <a:latin typeface="+mn-lt"/>
        <a:ea typeface="+mn-ea"/>
        <a:cs typeface="+mn-cs"/>
        <a:sym typeface="Aptos"/>
      </a:defRPr>
    </a:lvl8pPr>
    <a:lvl9pPr indent="1828800" latinLnBrk="0">
      <a:defRPr sz="1200">
        <a:latin typeface="+mn-lt"/>
        <a:ea typeface="+mn-ea"/>
        <a:cs typeface="+mn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9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1812797" y="1394816"/>
            <a:ext cx="5518406" cy="1073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4200"/>
              </a:lnSpc>
              <a:spcBef>
                <a:spcPts val="1500"/>
              </a:spcBef>
              <a:defRPr b="1" sz="4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Intelligence Artificielle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1812798" y="2636754"/>
            <a:ext cx="5564554" cy="328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600"/>
              </a:lnSpc>
              <a:spcBef>
                <a:spcPts val="2200"/>
              </a:spcBef>
              <a:defRPr sz="24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Origines, Principes et Agents Intelligents</a:t>
            </a:r>
          </a:p>
        </p:txBody>
      </p:sp>
      <p:sp>
        <p:nvSpPr>
          <p:cNvPr id="22" name="Text 2"/>
          <p:cNvSpPr/>
          <p:nvPr/>
        </p:nvSpPr>
        <p:spPr>
          <a:xfrm>
            <a:off x="3596425" y="3057450"/>
            <a:ext cx="1905001" cy="19051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1766648" y="3261121"/>
            <a:ext cx="5564554" cy="1948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00"/>
              </a:lnSpc>
              <a:defRPr sz="1200">
                <a:solidFill>
                  <a:srgbClr val="FFFFFF">
                    <a:alpha val="8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Projet Transition des systèmes d'information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1812798" y="3566269"/>
            <a:ext cx="5564554" cy="16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spcBef>
                <a:spcPts val="600"/>
              </a:spcBef>
              <a:defRPr sz="1000">
                <a:solidFill>
                  <a:srgbClr val="FFFFFF">
                    <a:alpha val="7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Professeur : Rachida El-Amrani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1789724" y="3824585"/>
            <a:ext cx="5564554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spcBef>
                <a:spcPts val="300"/>
              </a:spcBef>
              <a:defRPr sz="1000">
                <a:solidFill>
                  <a:srgbClr val="FFFFFF">
                    <a:alpha val="7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Réalisé par : Mehdi Tazerouti, Hinda Habib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224465" y="4772025"/>
            <a:ext cx="1393265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00"/>
              </a:lnSpc>
              <a:defRPr sz="700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Université Paris Dauphine - PSL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380999" y="1023937"/>
            <a:ext cx="4284538" cy="385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b="1" sz="30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Plan de la Présentation</a:t>
            </a:r>
          </a:p>
        </p:txBody>
      </p:sp>
      <p:sp>
        <p:nvSpPr>
          <p:cNvPr id="29" name="Text 1"/>
          <p:cNvSpPr/>
          <p:nvPr/>
        </p:nvSpPr>
        <p:spPr>
          <a:xfrm>
            <a:off x="381000" y="1481137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" name="Text 2"/>
          <p:cNvSpPr/>
          <p:nvPr/>
        </p:nvSpPr>
        <p:spPr>
          <a:xfrm>
            <a:off x="381000" y="1947863"/>
            <a:ext cx="476250" cy="476251"/>
          </a:xfrm>
          <a:prstGeom prst="roundRect">
            <a:avLst>
              <a:gd name="adj" fmla="val 16000"/>
            </a:avLst>
          </a:prstGeom>
          <a:solidFill>
            <a:srgbClr val="003D7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" name="Text 3"/>
          <p:cNvSpPr txBox="1"/>
          <p:nvPr/>
        </p:nvSpPr>
        <p:spPr>
          <a:xfrm>
            <a:off x="566141" y="2052636"/>
            <a:ext cx="108086" cy="253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" name="Text 4"/>
          <p:cNvSpPr txBox="1"/>
          <p:nvPr/>
        </p:nvSpPr>
        <p:spPr>
          <a:xfrm>
            <a:off x="1009650" y="1947863"/>
            <a:ext cx="3566651" cy="197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300"/>
              </a:spcBef>
              <a:defRPr b="1" sz="13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Qu'est-ce que l'Intelligence Artificielle ?</a:t>
            </a:r>
          </a:p>
        </p:txBody>
      </p:sp>
      <p:sp>
        <p:nvSpPr>
          <p:cNvPr id="33" name="Text 5"/>
          <p:cNvSpPr txBox="1"/>
          <p:nvPr/>
        </p:nvSpPr>
        <p:spPr>
          <a:xfrm>
            <a:off x="1009650" y="2191642"/>
            <a:ext cx="3566651" cy="156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Origines historiques, principes fondamentaux et fonctionnement</a:t>
            </a:r>
          </a:p>
        </p:txBody>
      </p:sp>
      <p:sp>
        <p:nvSpPr>
          <p:cNvPr id="34" name="Text 6"/>
          <p:cNvSpPr/>
          <p:nvPr/>
        </p:nvSpPr>
        <p:spPr>
          <a:xfrm>
            <a:off x="381000" y="2576513"/>
            <a:ext cx="476250" cy="476251"/>
          </a:xfrm>
          <a:prstGeom prst="roundRect">
            <a:avLst>
              <a:gd name="adj" fmla="val 16000"/>
            </a:avLst>
          </a:prstGeom>
          <a:solidFill>
            <a:srgbClr val="003D7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" name="Text 7"/>
          <p:cNvSpPr txBox="1"/>
          <p:nvPr/>
        </p:nvSpPr>
        <p:spPr>
          <a:xfrm>
            <a:off x="566141" y="2681288"/>
            <a:ext cx="108086" cy="253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6" name="Text 8"/>
          <p:cNvSpPr txBox="1"/>
          <p:nvPr/>
        </p:nvSpPr>
        <p:spPr>
          <a:xfrm>
            <a:off x="1009650" y="2576513"/>
            <a:ext cx="2523450" cy="197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300"/>
              </a:spcBef>
              <a:defRPr b="1" sz="13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Les Agents Intelligents</a:t>
            </a:r>
          </a:p>
        </p:txBody>
      </p:sp>
      <p:sp>
        <p:nvSpPr>
          <p:cNvPr id="37" name="Text 9"/>
          <p:cNvSpPr txBox="1"/>
          <p:nvPr/>
        </p:nvSpPr>
        <p:spPr>
          <a:xfrm>
            <a:off x="1009650" y="2820292"/>
            <a:ext cx="2523450" cy="156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 BDI, typologie et cas d'utilisation</a:t>
            </a:r>
          </a:p>
        </p:txBody>
      </p:sp>
      <p:sp>
        <p:nvSpPr>
          <p:cNvPr id="38" name="Text 10"/>
          <p:cNvSpPr/>
          <p:nvPr/>
        </p:nvSpPr>
        <p:spPr>
          <a:xfrm>
            <a:off x="381000" y="3205163"/>
            <a:ext cx="476250" cy="476251"/>
          </a:xfrm>
          <a:prstGeom prst="roundRect">
            <a:avLst>
              <a:gd name="adj" fmla="val 16000"/>
            </a:avLst>
          </a:prstGeom>
          <a:solidFill>
            <a:srgbClr val="003D7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9" name="Text 11"/>
          <p:cNvSpPr txBox="1"/>
          <p:nvPr/>
        </p:nvSpPr>
        <p:spPr>
          <a:xfrm>
            <a:off x="566141" y="3309937"/>
            <a:ext cx="108086" cy="253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0" name="Text 12"/>
          <p:cNvSpPr txBox="1"/>
          <p:nvPr/>
        </p:nvSpPr>
        <p:spPr>
          <a:xfrm>
            <a:off x="1009650" y="3205163"/>
            <a:ext cx="3035943" cy="197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300"/>
              </a:spcBef>
              <a:defRPr b="1" sz="13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Déploiement en Entreprise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1009650" y="3448942"/>
            <a:ext cx="3035943" cy="156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Prérequis, domaines d'application et impacts business</a:t>
            </a:r>
          </a:p>
        </p:txBody>
      </p:sp>
      <p:sp>
        <p:nvSpPr>
          <p:cNvPr id="42" name="Text 14"/>
          <p:cNvSpPr/>
          <p:nvPr/>
        </p:nvSpPr>
        <p:spPr>
          <a:xfrm>
            <a:off x="381000" y="3833812"/>
            <a:ext cx="476250" cy="476251"/>
          </a:xfrm>
          <a:prstGeom prst="roundRect">
            <a:avLst>
              <a:gd name="adj" fmla="val 16000"/>
            </a:avLst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3" name="Text 15"/>
          <p:cNvSpPr txBox="1"/>
          <p:nvPr/>
        </p:nvSpPr>
        <p:spPr>
          <a:xfrm>
            <a:off x="566141" y="3938587"/>
            <a:ext cx="108086" cy="253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4" name="Text 16"/>
          <p:cNvSpPr txBox="1"/>
          <p:nvPr/>
        </p:nvSpPr>
        <p:spPr>
          <a:xfrm>
            <a:off x="1009649" y="3833812"/>
            <a:ext cx="3022130" cy="197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300"/>
              </a:spcBef>
              <a:defRPr b="1" sz="13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Cas Pratique : Agent de Réservation</a:t>
            </a:r>
          </a:p>
        </p:txBody>
      </p:sp>
      <p:sp>
        <p:nvSpPr>
          <p:cNvPr id="45" name="Text 17"/>
          <p:cNvSpPr txBox="1"/>
          <p:nvPr/>
        </p:nvSpPr>
        <p:spPr>
          <a:xfrm>
            <a:off x="1009649" y="4077592"/>
            <a:ext cx="3022130" cy="156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Simulation d'un agent intelligent avec architecture BDI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0"/>
          <p:cNvSpPr txBox="1"/>
          <p:nvPr/>
        </p:nvSpPr>
        <p:spPr>
          <a:xfrm>
            <a:off x="381000" y="873919"/>
            <a:ext cx="4576001" cy="34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Origines Historiques de l'IA</a:t>
            </a:r>
          </a:p>
        </p:txBody>
      </p:sp>
      <p:sp>
        <p:nvSpPr>
          <p:cNvPr id="48" name="Text 1"/>
          <p:cNvSpPr/>
          <p:nvPr/>
        </p:nvSpPr>
        <p:spPr>
          <a:xfrm>
            <a:off x="381000" y="1293019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49" name="Text 2"/>
          <p:cNvSpPr txBox="1"/>
          <p:nvPr/>
        </p:nvSpPr>
        <p:spPr>
          <a:xfrm>
            <a:off x="354329" y="1664493"/>
            <a:ext cx="1360171" cy="217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800"/>
              </a:lnSpc>
              <a:defRPr b="1" sz="13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1943-1950</a:t>
            </a:r>
          </a:p>
        </p:txBody>
      </p:sp>
      <p:sp>
        <p:nvSpPr>
          <p:cNvPr id="50" name="Text 3"/>
          <p:cNvSpPr txBox="1"/>
          <p:nvPr/>
        </p:nvSpPr>
        <p:spPr>
          <a:xfrm>
            <a:off x="354329" y="1923455"/>
            <a:ext cx="1360171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spcBef>
                <a:spcPts val="100"/>
              </a:spcBef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Précurseurs</a:t>
            </a:r>
          </a:p>
        </p:txBody>
      </p:sp>
      <p:sp>
        <p:nvSpPr>
          <p:cNvPr id="51" name="Text 4"/>
          <p:cNvSpPr/>
          <p:nvPr/>
        </p:nvSpPr>
        <p:spPr>
          <a:xfrm>
            <a:off x="1905000" y="1664493"/>
            <a:ext cx="6858000" cy="613173"/>
          </a:xfrm>
          <a:prstGeom prst="rect">
            <a:avLst/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2" name="Shape 5"/>
          <p:cNvSpPr/>
          <p:nvPr/>
        </p:nvSpPr>
        <p:spPr>
          <a:xfrm>
            <a:off x="1924049" y="1664493"/>
            <a:ext cx="1" cy="613173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" name="Text 6"/>
          <p:cNvSpPr txBox="1"/>
          <p:nvPr/>
        </p:nvSpPr>
        <p:spPr>
          <a:xfrm>
            <a:off x="2076450" y="1797843"/>
            <a:ext cx="6684265" cy="32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McCulloch &amp; Pitts : modèle mathématique du neurone. Turing introduit son test d'intelligence. SNARC : premier réseau neuronal électronique.</a:t>
            </a:r>
          </a:p>
        </p:txBody>
      </p:sp>
      <p:sp>
        <p:nvSpPr>
          <p:cNvPr id="54" name="Text 7"/>
          <p:cNvSpPr txBox="1"/>
          <p:nvPr/>
        </p:nvSpPr>
        <p:spPr>
          <a:xfrm>
            <a:off x="354329" y="2391966"/>
            <a:ext cx="1360171" cy="217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800"/>
              </a:lnSpc>
              <a:defRPr b="1" sz="13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1956-1960</a:t>
            </a:r>
          </a:p>
        </p:txBody>
      </p:sp>
      <p:sp>
        <p:nvSpPr>
          <p:cNvPr id="55" name="Text 8"/>
          <p:cNvSpPr txBox="1"/>
          <p:nvPr/>
        </p:nvSpPr>
        <p:spPr>
          <a:xfrm>
            <a:off x="354329" y="2650926"/>
            <a:ext cx="1360171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spcBef>
                <a:spcPts val="100"/>
              </a:spcBef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Naissance officielle</a:t>
            </a:r>
          </a:p>
        </p:txBody>
      </p:sp>
      <p:sp>
        <p:nvSpPr>
          <p:cNvPr id="56" name="Text 9"/>
          <p:cNvSpPr/>
          <p:nvPr/>
        </p:nvSpPr>
        <p:spPr>
          <a:xfrm>
            <a:off x="1905000" y="2391966"/>
            <a:ext cx="6858000" cy="613173"/>
          </a:xfrm>
          <a:prstGeom prst="rect">
            <a:avLst/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57" name="Shape 10"/>
          <p:cNvSpPr/>
          <p:nvPr/>
        </p:nvSpPr>
        <p:spPr>
          <a:xfrm>
            <a:off x="1924049" y="2391965"/>
            <a:ext cx="1" cy="613173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11"/>
          <p:cNvSpPr txBox="1"/>
          <p:nvPr/>
        </p:nvSpPr>
        <p:spPr>
          <a:xfrm>
            <a:off x="2076450" y="2525316"/>
            <a:ext cx="6684265" cy="15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Conférence de Dartmouth : McCarthy forge le terme "intelligence artificielle". Logic Theorist, LISP, concept de Machine Learning.</a:t>
            </a:r>
          </a:p>
        </p:txBody>
      </p:sp>
      <p:sp>
        <p:nvSpPr>
          <p:cNvPr id="59" name="Text 12"/>
          <p:cNvSpPr txBox="1"/>
          <p:nvPr/>
        </p:nvSpPr>
        <p:spPr>
          <a:xfrm>
            <a:off x="354329" y="3119438"/>
            <a:ext cx="1360171" cy="217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800"/>
              </a:lnSpc>
              <a:defRPr b="1" sz="13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1970-1990</a:t>
            </a:r>
          </a:p>
        </p:txBody>
      </p:sp>
      <p:sp>
        <p:nvSpPr>
          <p:cNvPr id="60" name="Text 13"/>
          <p:cNvSpPr txBox="1"/>
          <p:nvPr/>
        </p:nvSpPr>
        <p:spPr>
          <a:xfrm>
            <a:off x="354329" y="3378398"/>
            <a:ext cx="1360171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spcBef>
                <a:spcPts val="100"/>
              </a:spcBef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Hivers de l'IA</a:t>
            </a:r>
          </a:p>
        </p:txBody>
      </p:sp>
      <p:sp>
        <p:nvSpPr>
          <p:cNvPr id="61" name="Text 14"/>
          <p:cNvSpPr/>
          <p:nvPr/>
        </p:nvSpPr>
        <p:spPr>
          <a:xfrm>
            <a:off x="1905000" y="3119438"/>
            <a:ext cx="6858000" cy="613173"/>
          </a:xfrm>
          <a:prstGeom prst="rect">
            <a:avLst/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2" name="Shape 15"/>
          <p:cNvSpPr/>
          <p:nvPr/>
        </p:nvSpPr>
        <p:spPr>
          <a:xfrm>
            <a:off x="1924049" y="3119438"/>
            <a:ext cx="1" cy="613173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16"/>
          <p:cNvSpPr txBox="1"/>
          <p:nvPr/>
        </p:nvSpPr>
        <p:spPr>
          <a:xfrm>
            <a:off x="2076450" y="3252787"/>
            <a:ext cx="6684265" cy="32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Rapport Lighthill : coupes budgétaires. Limites des perceptrons. Deux "hivers" marqués par désillusion malgré émergence des systèmes experts.</a:t>
            </a:r>
          </a:p>
        </p:txBody>
      </p:sp>
      <p:sp>
        <p:nvSpPr>
          <p:cNvPr id="64" name="Text 17"/>
          <p:cNvSpPr txBox="1"/>
          <p:nvPr/>
        </p:nvSpPr>
        <p:spPr>
          <a:xfrm>
            <a:off x="354329" y="3846908"/>
            <a:ext cx="1360171" cy="21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800"/>
              </a:lnSpc>
              <a:defRPr b="1" sz="13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1990-2020</a:t>
            </a:r>
          </a:p>
        </p:txBody>
      </p:sp>
      <p:sp>
        <p:nvSpPr>
          <p:cNvPr id="65" name="Text 18"/>
          <p:cNvSpPr txBox="1"/>
          <p:nvPr/>
        </p:nvSpPr>
        <p:spPr>
          <a:xfrm>
            <a:off x="354329" y="4105869"/>
            <a:ext cx="1360171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lnSpc>
                <a:spcPts val="1100"/>
              </a:lnSpc>
              <a:spcBef>
                <a:spcPts val="100"/>
              </a:spcBef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Renaissance moderne</a:t>
            </a:r>
          </a:p>
        </p:txBody>
      </p:sp>
      <p:sp>
        <p:nvSpPr>
          <p:cNvPr id="66" name="Text 19"/>
          <p:cNvSpPr/>
          <p:nvPr/>
        </p:nvSpPr>
        <p:spPr>
          <a:xfrm>
            <a:off x="1905000" y="3846908"/>
            <a:ext cx="6858000" cy="613174"/>
          </a:xfrm>
          <a:prstGeom prst="rect">
            <a:avLst/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67" name="Shape 20"/>
          <p:cNvSpPr/>
          <p:nvPr/>
        </p:nvSpPr>
        <p:spPr>
          <a:xfrm>
            <a:off x="1924049" y="3846908"/>
            <a:ext cx="1" cy="613173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21"/>
          <p:cNvSpPr txBox="1"/>
          <p:nvPr/>
        </p:nvSpPr>
        <p:spPr>
          <a:xfrm>
            <a:off x="2076450" y="3980258"/>
            <a:ext cx="6684265" cy="32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Big Data + Deep Learning. Deep Blue (1997), AlexNet (2012), AlphaGo (2016), Transformers (2017). Émergence de l'IA générative : GPT, DALL-E.</a:t>
            </a:r>
          </a:p>
        </p:txBody>
      </p:sp>
      <p:sp>
        <p:nvSpPr>
          <p:cNvPr id="69" name="Text 22"/>
          <p:cNvSpPr txBox="1"/>
          <p:nvPr/>
        </p:nvSpPr>
        <p:spPr>
          <a:xfrm>
            <a:off x="380999" y="4772025"/>
            <a:ext cx="2923153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 cycles d'optimisme et de désillusion marquent l'évolution de l'IA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 txBox="1"/>
          <p:nvPr/>
        </p:nvSpPr>
        <p:spPr>
          <a:xfrm>
            <a:off x="381000" y="517326"/>
            <a:ext cx="5294947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Principes Fondamentaux de l'IA</a:t>
            </a:r>
          </a:p>
        </p:txBody>
      </p:sp>
      <p:sp>
        <p:nvSpPr>
          <p:cNvPr id="72" name="Text 1"/>
          <p:cNvSpPr/>
          <p:nvPr/>
        </p:nvSpPr>
        <p:spPr>
          <a:xfrm>
            <a:off x="381000" y="936427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7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71475" y="1202530"/>
            <a:ext cx="4124325" cy="1687712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ext 2"/>
          <p:cNvSpPr txBox="1"/>
          <p:nvPr/>
        </p:nvSpPr>
        <p:spPr>
          <a:xfrm>
            <a:off x="533399" y="1460302"/>
            <a:ext cx="3895918" cy="174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700"/>
              </a:spcBef>
              <a:defRPr b="1" sz="12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Logique Formelle</a:t>
            </a:r>
          </a:p>
        </p:txBody>
      </p:sp>
      <p:sp>
        <p:nvSpPr>
          <p:cNvPr id="75" name="Text 3"/>
          <p:cNvSpPr txBox="1"/>
          <p:nvPr/>
        </p:nvSpPr>
        <p:spPr>
          <a:xfrm>
            <a:off x="533399" y="1738313"/>
            <a:ext cx="3895918" cy="15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Représentation des connaissances par symboles et règles logiques</a:t>
            </a:r>
          </a:p>
        </p:txBody>
      </p:sp>
      <p:sp>
        <p:nvSpPr>
          <p:cNvPr id="76" name="Text 4"/>
          <p:cNvSpPr txBox="1"/>
          <p:nvPr/>
        </p:nvSpPr>
        <p:spPr>
          <a:xfrm>
            <a:off x="619125" y="1966911"/>
            <a:ext cx="3733800" cy="78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Logique propositionnelle et prédicats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Moteurs d'inférence automatique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Logique floue et non monotone</a:t>
            </a:r>
          </a:p>
        </p:txBody>
      </p:sp>
      <p:pic>
        <p:nvPicPr>
          <p:cNvPr id="7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8675" y="1212055"/>
            <a:ext cx="4124325" cy="1687712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5"/>
          <p:cNvSpPr txBox="1"/>
          <p:nvPr/>
        </p:nvSpPr>
        <p:spPr>
          <a:xfrm>
            <a:off x="4791075" y="1460302"/>
            <a:ext cx="3895917" cy="174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700"/>
              </a:spcBef>
              <a:defRPr b="1" sz="12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Fondements Mathématiques</a:t>
            </a:r>
          </a:p>
        </p:txBody>
      </p:sp>
      <p:sp>
        <p:nvSpPr>
          <p:cNvPr id="79" name="Text 6"/>
          <p:cNvSpPr txBox="1"/>
          <p:nvPr/>
        </p:nvSpPr>
        <p:spPr>
          <a:xfrm>
            <a:off x="4791075" y="1738313"/>
            <a:ext cx="3895917" cy="15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Probabilités, statistiques et optimisation</a:t>
            </a:r>
          </a:p>
        </p:txBody>
      </p:sp>
      <p:sp>
        <p:nvSpPr>
          <p:cNvPr id="80" name="Text 7"/>
          <p:cNvSpPr txBox="1"/>
          <p:nvPr/>
        </p:nvSpPr>
        <p:spPr>
          <a:xfrm>
            <a:off x="4876800" y="1966911"/>
            <a:ext cx="3733800" cy="78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Réseaux bayésiens et incertitude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Algèbre linéaire et calcul différentiel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Descente de gradient</a:t>
            </a:r>
          </a:p>
        </p:txBody>
      </p:sp>
      <p:pic>
        <p:nvPicPr>
          <p:cNvPr id="8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1000" y="2985491"/>
            <a:ext cx="4124325" cy="1687712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Text 8"/>
          <p:cNvSpPr txBox="1"/>
          <p:nvPr/>
        </p:nvSpPr>
        <p:spPr>
          <a:xfrm>
            <a:off x="533399" y="3281362"/>
            <a:ext cx="3895918" cy="174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700"/>
              </a:spcBef>
              <a:defRPr b="1" sz="12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Algorithmique</a:t>
            </a:r>
          </a:p>
        </p:txBody>
      </p:sp>
      <p:sp>
        <p:nvSpPr>
          <p:cNvPr id="83" name="Text 9"/>
          <p:cNvSpPr txBox="1"/>
          <p:nvPr/>
        </p:nvSpPr>
        <p:spPr>
          <a:xfrm>
            <a:off x="533399" y="3559373"/>
            <a:ext cx="3895918" cy="15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Résolution de problèmes et automatisation</a:t>
            </a:r>
          </a:p>
        </p:txBody>
      </p:sp>
      <p:sp>
        <p:nvSpPr>
          <p:cNvPr id="84" name="Text 10"/>
          <p:cNvSpPr txBox="1"/>
          <p:nvPr/>
        </p:nvSpPr>
        <p:spPr>
          <a:xfrm>
            <a:off x="619125" y="3787973"/>
            <a:ext cx="3733800" cy="78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Recherche dans espaces d'états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Algorithme A* avec heuristiques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Optimisation évolutive</a:t>
            </a:r>
          </a:p>
        </p:txBody>
      </p:sp>
      <p:pic>
        <p:nvPicPr>
          <p:cNvPr id="85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638675" y="2985491"/>
            <a:ext cx="4124325" cy="1687711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Text 11"/>
          <p:cNvSpPr txBox="1"/>
          <p:nvPr/>
        </p:nvSpPr>
        <p:spPr>
          <a:xfrm>
            <a:off x="4791075" y="3281362"/>
            <a:ext cx="3895917" cy="174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spcBef>
                <a:spcPts val="700"/>
              </a:spcBef>
              <a:defRPr b="1" sz="12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Apprentissage Automatique</a:t>
            </a:r>
          </a:p>
        </p:txBody>
      </p:sp>
      <p:sp>
        <p:nvSpPr>
          <p:cNvPr id="87" name="Text 12"/>
          <p:cNvSpPr txBox="1"/>
          <p:nvPr/>
        </p:nvSpPr>
        <p:spPr>
          <a:xfrm>
            <a:off x="4791075" y="3559373"/>
            <a:ext cx="3895917" cy="15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Capacité d'apprendre sans être explicitement programmé</a:t>
            </a:r>
          </a:p>
        </p:txBody>
      </p:sp>
      <p:sp>
        <p:nvSpPr>
          <p:cNvPr id="88" name="Text 13"/>
          <p:cNvSpPr txBox="1"/>
          <p:nvPr/>
        </p:nvSpPr>
        <p:spPr>
          <a:xfrm>
            <a:off x="4876800" y="3787973"/>
            <a:ext cx="3733800" cy="78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Supervisé, non supervisé, renforcement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Deep Learning et réseaux neuronaux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Rétropropagation du gradient</a:t>
            </a:r>
          </a:p>
        </p:txBody>
      </p:sp>
      <p:sp>
        <p:nvSpPr>
          <p:cNvPr id="89" name="Text 14"/>
          <p:cNvSpPr txBox="1"/>
          <p:nvPr/>
        </p:nvSpPr>
        <p:spPr>
          <a:xfrm>
            <a:off x="380999" y="4772025"/>
            <a:ext cx="4673765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L'IA repose sur la convergence de disciplines multiples : logique, mathématiques, informatique et statistiques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 0"/>
          <p:cNvSpPr txBox="1"/>
          <p:nvPr/>
        </p:nvSpPr>
        <p:spPr>
          <a:xfrm>
            <a:off x="381000" y="647997"/>
            <a:ext cx="6946583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Cycle de Développement d'un Système IA</a:t>
            </a:r>
          </a:p>
        </p:txBody>
      </p:sp>
      <p:sp>
        <p:nvSpPr>
          <p:cNvPr id="92" name="Text 1"/>
          <p:cNvSpPr/>
          <p:nvPr/>
        </p:nvSpPr>
        <p:spPr>
          <a:xfrm>
            <a:off x="381000" y="1067098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3" name="Text 2"/>
          <p:cNvSpPr/>
          <p:nvPr/>
        </p:nvSpPr>
        <p:spPr>
          <a:xfrm>
            <a:off x="381000" y="1438573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4" name="Shape 3"/>
          <p:cNvSpPr/>
          <p:nvPr/>
        </p:nvSpPr>
        <p:spPr>
          <a:xfrm flipH="1">
            <a:off x="400049" y="1438573"/>
            <a:ext cx="1" cy="573287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4"/>
          <p:cNvSpPr txBox="1"/>
          <p:nvPr/>
        </p:nvSpPr>
        <p:spPr>
          <a:xfrm>
            <a:off x="533400" y="1552873"/>
            <a:ext cx="3925062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 Définition du problème</a:t>
            </a:r>
          </a:p>
        </p:txBody>
      </p:sp>
      <p:sp>
        <p:nvSpPr>
          <p:cNvPr id="96" name="Text 5"/>
          <p:cNvSpPr txBox="1"/>
          <p:nvPr/>
        </p:nvSpPr>
        <p:spPr>
          <a:xfrm>
            <a:off x="533400" y="1750963"/>
            <a:ext cx="392506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Objectifs et métriques de succès</a:t>
            </a:r>
          </a:p>
        </p:txBody>
      </p:sp>
      <p:sp>
        <p:nvSpPr>
          <p:cNvPr id="97" name="Text 6"/>
          <p:cNvSpPr/>
          <p:nvPr/>
        </p:nvSpPr>
        <p:spPr>
          <a:xfrm>
            <a:off x="381000" y="2107108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98" name="Shape 7"/>
          <p:cNvSpPr/>
          <p:nvPr/>
        </p:nvSpPr>
        <p:spPr>
          <a:xfrm flipH="1">
            <a:off x="400049" y="2107108"/>
            <a:ext cx="1" cy="573287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9" name="Text 8"/>
          <p:cNvSpPr txBox="1"/>
          <p:nvPr/>
        </p:nvSpPr>
        <p:spPr>
          <a:xfrm>
            <a:off x="533400" y="2221408"/>
            <a:ext cx="3925062" cy="146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 Collecte de données</a:t>
            </a:r>
          </a:p>
        </p:txBody>
      </p:sp>
      <p:sp>
        <p:nvSpPr>
          <p:cNvPr id="100" name="Text 9"/>
          <p:cNvSpPr txBox="1"/>
          <p:nvPr/>
        </p:nvSpPr>
        <p:spPr>
          <a:xfrm>
            <a:off x="533400" y="2419499"/>
            <a:ext cx="392506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Données représentatives et qualité</a:t>
            </a:r>
          </a:p>
        </p:txBody>
      </p:sp>
      <p:sp>
        <p:nvSpPr>
          <p:cNvPr id="101" name="Text 10"/>
          <p:cNvSpPr/>
          <p:nvPr/>
        </p:nvSpPr>
        <p:spPr>
          <a:xfrm>
            <a:off x="381000" y="2775644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2" name="Shape 11"/>
          <p:cNvSpPr/>
          <p:nvPr/>
        </p:nvSpPr>
        <p:spPr>
          <a:xfrm flipH="1">
            <a:off x="400049" y="2775644"/>
            <a:ext cx="1" cy="573287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 12"/>
          <p:cNvSpPr txBox="1"/>
          <p:nvPr/>
        </p:nvSpPr>
        <p:spPr>
          <a:xfrm>
            <a:off x="533400" y="2889944"/>
            <a:ext cx="3925062" cy="146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 Prétraitement</a:t>
            </a:r>
          </a:p>
        </p:txBody>
      </p:sp>
      <p:sp>
        <p:nvSpPr>
          <p:cNvPr id="104" name="Text 13"/>
          <p:cNvSpPr txBox="1"/>
          <p:nvPr/>
        </p:nvSpPr>
        <p:spPr>
          <a:xfrm>
            <a:off x="533400" y="3088034"/>
            <a:ext cx="3925062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Nettoyage et normalisation (80% du temps)</a:t>
            </a:r>
          </a:p>
        </p:txBody>
      </p:sp>
      <p:sp>
        <p:nvSpPr>
          <p:cNvPr id="105" name="Text 14"/>
          <p:cNvSpPr/>
          <p:nvPr/>
        </p:nvSpPr>
        <p:spPr>
          <a:xfrm>
            <a:off x="381000" y="3444180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06" name="Shape 15"/>
          <p:cNvSpPr/>
          <p:nvPr/>
        </p:nvSpPr>
        <p:spPr>
          <a:xfrm flipH="1">
            <a:off x="400049" y="3444180"/>
            <a:ext cx="1" cy="573287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6"/>
          <p:cNvSpPr txBox="1"/>
          <p:nvPr/>
        </p:nvSpPr>
        <p:spPr>
          <a:xfrm>
            <a:off x="533400" y="3558480"/>
            <a:ext cx="3925062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4. Séparation des données</a:t>
            </a:r>
          </a:p>
        </p:txBody>
      </p:sp>
      <p:sp>
        <p:nvSpPr>
          <p:cNvPr id="108" name="Text 17"/>
          <p:cNvSpPr txBox="1"/>
          <p:nvPr/>
        </p:nvSpPr>
        <p:spPr>
          <a:xfrm>
            <a:off x="533400" y="3756571"/>
            <a:ext cx="392506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Train / Validation / Test (70/15/15%)</a:t>
            </a:r>
          </a:p>
        </p:txBody>
      </p:sp>
      <p:sp>
        <p:nvSpPr>
          <p:cNvPr id="109" name="Text 18"/>
          <p:cNvSpPr/>
          <p:nvPr/>
        </p:nvSpPr>
        <p:spPr>
          <a:xfrm>
            <a:off x="381000" y="4112716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10" name="Shape 19"/>
          <p:cNvSpPr/>
          <p:nvPr/>
        </p:nvSpPr>
        <p:spPr>
          <a:xfrm flipH="1">
            <a:off x="400049" y="4112715"/>
            <a:ext cx="1" cy="573287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20"/>
          <p:cNvSpPr txBox="1"/>
          <p:nvPr/>
        </p:nvSpPr>
        <p:spPr>
          <a:xfrm>
            <a:off x="533400" y="4227016"/>
            <a:ext cx="3925062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5. Choix du modèle</a:t>
            </a:r>
          </a:p>
        </p:txBody>
      </p:sp>
      <p:sp>
        <p:nvSpPr>
          <p:cNvPr id="112" name="Text 21"/>
          <p:cNvSpPr txBox="1"/>
          <p:nvPr/>
        </p:nvSpPr>
        <p:spPr>
          <a:xfrm>
            <a:off x="533400" y="4425107"/>
            <a:ext cx="392506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 et hyperparamètres</a:t>
            </a:r>
          </a:p>
        </p:txBody>
      </p:sp>
      <p:sp>
        <p:nvSpPr>
          <p:cNvPr id="113" name="Text 22"/>
          <p:cNvSpPr/>
          <p:nvPr/>
        </p:nvSpPr>
        <p:spPr>
          <a:xfrm>
            <a:off x="4648200" y="1438573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14" name="Shape 23"/>
          <p:cNvSpPr/>
          <p:nvPr/>
        </p:nvSpPr>
        <p:spPr>
          <a:xfrm>
            <a:off x="4667250" y="1438573"/>
            <a:ext cx="1" cy="573287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Text 24"/>
          <p:cNvSpPr txBox="1"/>
          <p:nvPr/>
        </p:nvSpPr>
        <p:spPr>
          <a:xfrm>
            <a:off x="4800600" y="1552873"/>
            <a:ext cx="3925062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6. Entraînement</a:t>
            </a:r>
          </a:p>
        </p:txBody>
      </p:sp>
      <p:sp>
        <p:nvSpPr>
          <p:cNvPr id="116" name="Text 25"/>
          <p:cNvSpPr txBox="1"/>
          <p:nvPr/>
        </p:nvSpPr>
        <p:spPr>
          <a:xfrm>
            <a:off x="4800600" y="1750963"/>
            <a:ext cx="392506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Itératif avec surveillance du surapprentissage</a:t>
            </a:r>
          </a:p>
        </p:txBody>
      </p:sp>
      <p:sp>
        <p:nvSpPr>
          <p:cNvPr id="117" name="Text 26"/>
          <p:cNvSpPr/>
          <p:nvPr/>
        </p:nvSpPr>
        <p:spPr>
          <a:xfrm>
            <a:off x="4648200" y="2107108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18" name="Shape 27"/>
          <p:cNvSpPr/>
          <p:nvPr/>
        </p:nvSpPr>
        <p:spPr>
          <a:xfrm>
            <a:off x="4667250" y="2107108"/>
            <a:ext cx="1" cy="573287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Text 28"/>
          <p:cNvSpPr txBox="1"/>
          <p:nvPr/>
        </p:nvSpPr>
        <p:spPr>
          <a:xfrm>
            <a:off x="4800600" y="2221408"/>
            <a:ext cx="3925062" cy="146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7. Validation</a:t>
            </a:r>
          </a:p>
        </p:txBody>
      </p:sp>
      <p:sp>
        <p:nvSpPr>
          <p:cNvPr id="120" name="Text 29"/>
          <p:cNvSpPr txBox="1"/>
          <p:nvPr/>
        </p:nvSpPr>
        <p:spPr>
          <a:xfrm>
            <a:off x="4800600" y="2419499"/>
            <a:ext cx="392506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Ajustements et optimisation</a:t>
            </a:r>
          </a:p>
        </p:txBody>
      </p:sp>
      <p:sp>
        <p:nvSpPr>
          <p:cNvPr id="121" name="Text 30"/>
          <p:cNvSpPr/>
          <p:nvPr/>
        </p:nvSpPr>
        <p:spPr>
          <a:xfrm>
            <a:off x="4648200" y="2775644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22" name="Shape 31"/>
          <p:cNvSpPr/>
          <p:nvPr/>
        </p:nvSpPr>
        <p:spPr>
          <a:xfrm>
            <a:off x="4667250" y="2775644"/>
            <a:ext cx="1" cy="573287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32"/>
          <p:cNvSpPr txBox="1"/>
          <p:nvPr/>
        </p:nvSpPr>
        <p:spPr>
          <a:xfrm>
            <a:off x="4800600" y="2889944"/>
            <a:ext cx="3925062" cy="146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8. Évaluation finale</a:t>
            </a:r>
          </a:p>
        </p:txBody>
      </p:sp>
      <p:sp>
        <p:nvSpPr>
          <p:cNvPr id="124" name="Text 33"/>
          <p:cNvSpPr txBox="1"/>
          <p:nvPr/>
        </p:nvSpPr>
        <p:spPr>
          <a:xfrm>
            <a:off x="4800600" y="3088034"/>
            <a:ext cx="3925062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Test objectif sur données non vues</a:t>
            </a:r>
          </a:p>
        </p:txBody>
      </p:sp>
      <p:sp>
        <p:nvSpPr>
          <p:cNvPr id="125" name="Text 34"/>
          <p:cNvSpPr/>
          <p:nvPr/>
        </p:nvSpPr>
        <p:spPr>
          <a:xfrm>
            <a:off x="4648200" y="3444180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26" name="Shape 35"/>
          <p:cNvSpPr/>
          <p:nvPr/>
        </p:nvSpPr>
        <p:spPr>
          <a:xfrm>
            <a:off x="4667250" y="3444180"/>
            <a:ext cx="1" cy="573287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Text 36"/>
          <p:cNvSpPr txBox="1"/>
          <p:nvPr/>
        </p:nvSpPr>
        <p:spPr>
          <a:xfrm>
            <a:off x="4800600" y="3558480"/>
            <a:ext cx="3925062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9. Déploiement</a:t>
            </a:r>
          </a:p>
        </p:txBody>
      </p:sp>
      <p:sp>
        <p:nvSpPr>
          <p:cNvPr id="128" name="Text 37"/>
          <p:cNvSpPr txBox="1"/>
          <p:nvPr/>
        </p:nvSpPr>
        <p:spPr>
          <a:xfrm>
            <a:off x="4800600" y="3756571"/>
            <a:ext cx="392506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Production (API, cloud, edge)</a:t>
            </a:r>
          </a:p>
        </p:txBody>
      </p:sp>
      <p:sp>
        <p:nvSpPr>
          <p:cNvPr id="129" name="Text 38"/>
          <p:cNvSpPr/>
          <p:nvPr/>
        </p:nvSpPr>
        <p:spPr>
          <a:xfrm>
            <a:off x="4648200" y="4112716"/>
            <a:ext cx="4114800" cy="573287"/>
          </a:xfrm>
          <a:prstGeom prst="roundRect">
            <a:avLst>
              <a:gd name="adj" fmla="val 9969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0" name="Shape 39"/>
          <p:cNvSpPr/>
          <p:nvPr/>
        </p:nvSpPr>
        <p:spPr>
          <a:xfrm>
            <a:off x="4667250" y="4112715"/>
            <a:ext cx="1" cy="573287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40"/>
          <p:cNvSpPr txBox="1"/>
          <p:nvPr/>
        </p:nvSpPr>
        <p:spPr>
          <a:xfrm>
            <a:off x="4800600" y="4227016"/>
            <a:ext cx="3925062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10. Maintenance continue</a:t>
            </a:r>
          </a:p>
        </p:txBody>
      </p:sp>
      <p:sp>
        <p:nvSpPr>
          <p:cNvPr id="132" name="Text 41"/>
          <p:cNvSpPr txBox="1"/>
          <p:nvPr/>
        </p:nvSpPr>
        <p:spPr>
          <a:xfrm>
            <a:off x="4800600" y="4425107"/>
            <a:ext cx="3925062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Monitoring et réentraînement</a:t>
            </a:r>
          </a:p>
        </p:txBody>
      </p:sp>
      <p:sp>
        <p:nvSpPr>
          <p:cNvPr id="133" name="Text 42"/>
          <p:cNvSpPr/>
          <p:nvPr/>
        </p:nvSpPr>
        <p:spPr>
          <a:xfrm>
            <a:off x="381000" y="4663528"/>
            <a:ext cx="8382000" cy="241847"/>
          </a:xfrm>
          <a:prstGeom prst="roundRect">
            <a:avLst>
              <a:gd name="adj" fmla="val 16954"/>
            </a:avLst>
          </a:prstGeom>
          <a:solidFill>
            <a:srgbClr val="FFF3E0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34" name="Shape 43"/>
          <p:cNvSpPr/>
          <p:nvPr/>
        </p:nvSpPr>
        <p:spPr>
          <a:xfrm flipH="1">
            <a:off x="400049" y="4663528"/>
            <a:ext cx="1" cy="241847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44"/>
          <p:cNvSpPr txBox="1"/>
          <p:nvPr/>
        </p:nvSpPr>
        <p:spPr>
          <a:xfrm>
            <a:off x="552450" y="4704529"/>
            <a:ext cx="8238743" cy="15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b="1"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💡 "Garbage in, garbage out" - La qualité des données est cruciale pour le succès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ext 0"/>
          <p:cNvSpPr txBox="1"/>
          <p:nvPr/>
        </p:nvSpPr>
        <p:spPr>
          <a:xfrm>
            <a:off x="380999" y="554235"/>
            <a:ext cx="6829999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Les Agents Intelligents : Concept Central</a:t>
            </a:r>
          </a:p>
        </p:txBody>
      </p:sp>
      <p:sp>
        <p:nvSpPr>
          <p:cNvPr id="138" name="Text 1"/>
          <p:cNvSpPr/>
          <p:nvPr/>
        </p:nvSpPr>
        <p:spPr>
          <a:xfrm>
            <a:off x="381000" y="973336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13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1344811"/>
            <a:ext cx="8382000" cy="1261468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Text 2"/>
          <p:cNvSpPr txBox="1"/>
          <p:nvPr/>
        </p:nvSpPr>
        <p:spPr>
          <a:xfrm>
            <a:off x="609600" y="1573411"/>
            <a:ext cx="4051364" cy="225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spcBef>
                <a:spcPts val="900"/>
              </a:spcBef>
              <a:defRPr b="1" sz="16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Définition</a:t>
            </a:r>
          </a:p>
        </p:txBody>
      </p:sp>
      <p:sp>
        <p:nvSpPr>
          <p:cNvPr id="141" name="Text 3"/>
          <p:cNvSpPr txBox="1"/>
          <p:nvPr/>
        </p:nvSpPr>
        <p:spPr>
          <a:xfrm>
            <a:off x="609600" y="1920477"/>
            <a:ext cx="8083296" cy="4410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800"/>
              </a:lnSpc>
              <a:defRPr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Une entité autonome qui </a:t>
            </a:r>
            <a:r>
              <a:rPr b="1"/>
              <a:t>perçoit</a:t>
            </a:r>
            <a:r>
              <a:t> son environnement via des capteurs, </a:t>
            </a:r>
            <a:r>
              <a:rPr b="1"/>
              <a:t>raisonne</a:t>
            </a:r>
            <a:r>
              <a:t> sur ses objectifs, et </a:t>
            </a:r>
            <a:r>
              <a:rPr b="1"/>
              <a:t>agit</a:t>
            </a:r>
            <a:r>
              <a:t> via des actionneurs pour atteindre ses buts, avec capacité d'</a:t>
            </a:r>
            <a:r>
              <a:rPr b="1"/>
              <a:t>apprentissage</a:t>
            </a:r>
            <a:r>
              <a:t>.</a:t>
            </a:r>
          </a:p>
        </p:txBody>
      </p:sp>
      <p:sp>
        <p:nvSpPr>
          <p:cNvPr id="142" name="Text 4"/>
          <p:cNvSpPr/>
          <p:nvPr/>
        </p:nvSpPr>
        <p:spPr>
          <a:xfrm>
            <a:off x="381000" y="2758677"/>
            <a:ext cx="2705100" cy="1259087"/>
          </a:xfrm>
          <a:prstGeom prst="roundRect">
            <a:avLst>
              <a:gd name="adj" fmla="val 605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3" name="Text 5"/>
          <p:cNvSpPr/>
          <p:nvPr/>
        </p:nvSpPr>
        <p:spPr>
          <a:xfrm>
            <a:off x="1495425" y="2911077"/>
            <a:ext cx="476250" cy="476251"/>
          </a:xfrm>
          <a:prstGeom prst="roundRect">
            <a:avLst>
              <a:gd name="adj" fmla="val 50000"/>
            </a:avLst>
          </a:prstGeom>
          <a:solidFill>
            <a:srgbClr val="003D7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4" name="Text 6"/>
          <p:cNvSpPr txBox="1"/>
          <p:nvPr/>
        </p:nvSpPr>
        <p:spPr>
          <a:xfrm>
            <a:off x="1616963" y="2989213"/>
            <a:ext cx="233174" cy="337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👁</a:t>
            </a:r>
          </a:p>
        </p:txBody>
      </p:sp>
      <p:sp>
        <p:nvSpPr>
          <p:cNvPr id="145" name="Text 7"/>
          <p:cNvSpPr txBox="1"/>
          <p:nvPr/>
        </p:nvSpPr>
        <p:spPr>
          <a:xfrm>
            <a:off x="509397" y="3501628"/>
            <a:ext cx="2448306" cy="148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00"/>
              </a:lnSpc>
              <a:spcBef>
                <a:spcPts val="400"/>
              </a:spcBef>
              <a:defRPr b="1" sz="10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PERCEPTION</a:t>
            </a:r>
          </a:p>
        </p:txBody>
      </p:sp>
      <p:sp>
        <p:nvSpPr>
          <p:cNvPr id="146" name="Text 8"/>
          <p:cNvSpPr txBox="1"/>
          <p:nvPr/>
        </p:nvSpPr>
        <p:spPr>
          <a:xfrm>
            <a:off x="509397" y="3718767"/>
            <a:ext cx="2448306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Capteurs, caméras, données entrantes</a:t>
            </a:r>
          </a:p>
        </p:txBody>
      </p:sp>
      <p:sp>
        <p:nvSpPr>
          <p:cNvPr id="147" name="Text 9"/>
          <p:cNvSpPr/>
          <p:nvPr/>
        </p:nvSpPr>
        <p:spPr>
          <a:xfrm>
            <a:off x="3219450" y="2758677"/>
            <a:ext cx="2705100" cy="1259087"/>
          </a:xfrm>
          <a:prstGeom prst="roundRect">
            <a:avLst>
              <a:gd name="adj" fmla="val 605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8" name="Text 10"/>
          <p:cNvSpPr/>
          <p:nvPr/>
        </p:nvSpPr>
        <p:spPr>
          <a:xfrm>
            <a:off x="4333875" y="2911077"/>
            <a:ext cx="476250" cy="476251"/>
          </a:xfrm>
          <a:prstGeom prst="roundRect">
            <a:avLst>
              <a:gd name="adj" fmla="val 50000"/>
            </a:avLst>
          </a:prstGeom>
          <a:solidFill>
            <a:srgbClr val="003D7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49" name="Text 11"/>
          <p:cNvSpPr txBox="1"/>
          <p:nvPr/>
        </p:nvSpPr>
        <p:spPr>
          <a:xfrm>
            <a:off x="4426420" y="2989213"/>
            <a:ext cx="291011" cy="337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🧠</a:t>
            </a:r>
          </a:p>
        </p:txBody>
      </p:sp>
      <p:sp>
        <p:nvSpPr>
          <p:cNvPr id="150" name="Text 12"/>
          <p:cNvSpPr txBox="1"/>
          <p:nvPr/>
        </p:nvSpPr>
        <p:spPr>
          <a:xfrm>
            <a:off x="3347846" y="3501628"/>
            <a:ext cx="2448307" cy="148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00"/>
              </a:lnSpc>
              <a:spcBef>
                <a:spcPts val="400"/>
              </a:spcBef>
              <a:defRPr b="1" sz="10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DÉCISION</a:t>
            </a:r>
          </a:p>
        </p:txBody>
      </p:sp>
      <p:sp>
        <p:nvSpPr>
          <p:cNvPr id="151" name="Text 13"/>
          <p:cNvSpPr txBox="1"/>
          <p:nvPr/>
        </p:nvSpPr>
        <p:spPr>
          <a:xfrm>
            <a:off x="3347846" y="3718767"/>
            <a:ext cx="2448307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Raisonnement, planification, choix optimal</a:t>
            </a:r>
          </a:p>
        </p:txBody>
      </p:sp>
      <p:sp>
        <p:nvSpPr>
          <p:cNvPr id="152" name="Text 14"/>
          <p:cNvSpPr/>
          <p:nvPr/>
        </p:nvSpPr>
        <p:spPr>
          <a:xfrm>
            <a:off x="6057900" y="2758677"/>
            <a:ext cx="2705100" cy="1259087"/>
          </a:xfrm>
          <a:prstGeom prst="roundRect">
            <a:avLst>
              <a:gd name="adj" fmla="val 6052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3" name="Text 15"/>
          <p:cNvSpPr/>
          <p:nvPr/>
        </p:nvSpPr>
        <p:spPr>
          <a:xfrm>
            <a:off x="7172325" y="2911077"/>
            <a:ext cx="476250" cy="476251"/>
          </a:xfrm>
          <a:prstGeom prst="roundRect">
            <a:avLst>
              <a:gd name="adj" fmla="val 50000"/>
            </a:avLst>
          </a:prstGeom>
          <a:solidFill>
            <a:srgbClr val="003D7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4" name="Text 16"/>
          <p:cNvSpPr txBox="1"/>
          <p:nvPr/>
        </p:nvSpPr>
        <p:spPr>
          <a:xfrm>
            <a:off x="7264871" y="2989213"/>
            <a:ext cx="291011" cy="337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500"/>
              </a:lnSpc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⚡</a:t>
            </a:r>
          </a:p>
        </p:txBody>
      </p:sp>
      <p:sp>
        <p:nvSpPr>
          <p:cNvPr id="155" name="Text 17"/>
          <p:cNvSpPr txBox="1"/>
          <p:nvPr/>
        </p:nvSpPr>
        <p:spPr>
          <a:xfrm>
            <a:off x="6186296" y="3501628"/>
            <a:ext cx="2448307" cy="148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200"/>
              </a:lnSpc>
              <a:spcBef>
                <a:spcPts val="400"/>
              </a:spcBef>
              <a:defRPr b="1" sz="10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</a:t>
            </a:r>
          </a:p>
        </p:txBody>
      </p:sp>
      <p:sp>
        <p:nvSpPr>
          <p:cNvPr id="156" name="Text 18"/>
          <p:cNvSpPr txBox="1"/>
          <p:nvPr/>
        </p:nvSpPr>
        <p:spPr>
          <a:xfrm>
            <a:off x="6186296" y="3718767"/>
            <a:ext cx="2448307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Actionneurs, moteurs, sorties système</a:t>
            </a:r>
          </a:p>
        </p:txBody>
      </p:sp>
      <p:sp>
        <p:nvSpPr>
          <p:cNvPr id="157" name="Text 19"/>
          <p:cNvSpPr/>
          <p:nvPr/>
        </p:nvSpPr>
        <p:spPr>
          <a:xfrm>
            <a:off x="381000" y="4170164"/>
            <a:ext cx="8382000" cy="449462"/>
          </a:xfrm>
          <a:prstGeom prst="roundRect">
            <a:avLst>
              <a:gd name="adj" fmla="val 12500"/>
            </a:avLst>
          </a:prstGeom>
          <a:solidFill>
            <a:srgbClr val="FFF3E0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58" name="Shape 20"/>
          <p:cNvSpPr/>
          <p:nvPr/>
        </p:nvSpPr>
        <p:spPr>
          <a:xfrm flipH="1">
            <a:off x="400049" y="4170164"/>
            <a:ext cx="2" cy="419101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21"/>
          <p:cNvSpPr txBox="1"/>
          <p:nvPr/>
        </p:nvSpPr>
        <p:spPr>
          <a:xfrm>
            <a:off x="552450" y="4303514"/>
            <a:ext cx="8238743" cy="15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defRPr b="1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Exemple :</a:t>
            </a:r>
            <a:r>
              <a:rPr b="0"/>
              <a:t> Un robot mobile perçoit via caméras/lidar, décide de ses mouvements, agit en motorisant ses roues, et apprend à éviter les obstacles par expérience.</a:t>
            </a:r>
          </a:p>
        </p:txBody>
      </p:sp>
      <p:sp>
        <p:nvSpPr>
          <p:cNvPr id="160" name="Text 22"/>
          <p:cNvSpPr txBox="1"/>
          <p:nvPr/>
        </p:nvSpPr>
        <p:spPr>
          <a:xfrm>
            <a:off x="380999" y="4772025"/>
            <a:ext cx="313234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 cycle Perception-Décision-Action est au cœur de tout agent intelligent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 0"/>
          <p:cNvSpPr txBox="1"/>
          <p:nvPr/>
        </p:nvSpPr>
        <p:spPr>
          <a:xfrm>
            <a:off x="381000" y="452437"/>
            <a:ext cx="6732841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Typologie des Agents (Russell &amp; Norvig)</a:t>
            </a:r>
          </a:p>
        </p:txBody>
      </p:sp>
      <p:sp>
        <p:nvSpPr>
          <p:cNvPr id="163" name="Text 1"/>
          <p:cNvSpPr/>
          <p:nvPr/>
        </p:nvSpPr>
        <p:spPr>
          <a:xfrm>
            <a:off x="381000" y="871537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4" name="Text 2"/>
          <p:cNvSpPr/>
          <p:nvPr/>
        </p:nvSpPr>
        <p:spPr>
          <a:xfrm>
            <a:off x="381000" y="1223962"/>
            <a:ext cx="8382000" cy="655291"/>
          </a:xfrm>
          <a:prstGeom prst="roundRect">
            <a:avLst>
              <a:gd name="adj" fmla="val 872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5" name="Shape 3"/>
          <p:cNvSpPr/>
          <p:nvPr/>
        </p:nvSpPr>
        <p:spPr>
          <a:xfrm flipH="1">
            <a:off x="404813" y="1223963"/>
            <a:ext cx="1" cy="655291"/>
          </a:xfrm>
          <a:prstGeom prst="line">
            <a:avLst/>
          </a:prstGeom>
          <a:ln w="47625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Text 4"/>
          <p:cNvSpPr txBox="1"/>
          <p:nvPr/>
        </p:nvSpPr>
        <p:spPr>
          <a:xfrm>
            <a:off x="552449" y="1347787"/>
            <a:ext cx="7697714" cy="161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b="1" sz="11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 Agents à réflexe simple</a:t>
            </a:r>
          </a:p>
        </p:txBody>
      </p:sp>
      <p:sp>
        <p:nvSpPr>
          <p:cNvPr id="167" name="Text 5"/>
          <p:cNvSpPr txBox="1"/>
          <p:nvPr/>
        </p:nvSpPr>
        <p:spPr>
          <a:xfrm>
            <a:off x="552449" y="1557337"/>
            <a:ext cx="7697714" cy="146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Règles condition-action fixes, pas de mémoire. Exemple : thermostat.</a:t>
            </a:r>
          </a:p>
        </p:txBody>
      </p:sp>
      <p:sp>
        <p:nvSpPr>
          <p:cNvPr id="168" name="Text 6"/>
          <p:cNvSpPr/>
          <p:nvPr/>
        </p:nvSpPr>
        <p:spPr>
          <a:xfrm>
            <a:off x="8099227" y="1347787"/>
            <a:ext cx="539949" cy="209551"/>
          </a:xfrm>
          <a:prstGeom prst="roundRect">
            <a:avLst>
              <a:gd name="adj" fmla="val 18182"/>
            </a:avLst>
          </a:prstGeom>
          <a:solidFill>
            <a:srgbClr val="003D7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69" name="Text 7"/>
          <p:cNvSpPr txBox="1"/>
          <p:nvPr/>
        </p:nvSpPr>
        <p:spPr>
          <a:xfrm>
            <a:off x="8194477" y="1385887"/>
            <a:ext cx="3564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SIMPLE</a:t>
            </a:r>
          </a:p>
        </p:txBody>
      </p:sp>
      <p:sp>
        <p:nvSpPr>
          <p:cNvPr id="170" name="Text 8"/>
          <p:cNvSpPr/>
          <p:nvPr/>
        </p:nvSpPr>
        <p:spPr>
          <a:xfrm>
            <a:off x="381000" y="1974502"/>
            <a:ext cx="8382000" cy="655291"/>
          </a:xfrm>
          <a:prstGeom prst="roundRect">
            <a:avLst>
              <a:gd name="adj" fmla="val 872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1" name="Shape 9"/>
          <p:cNvSpPr/>
          <p:nvPr/>
        </p:nvSpPr>
        <p:spPr>
          <a:xfrm flipH="1">
            <a:off x="404813" y="1974502"/>
            <a:ext cx="1" cy="655291"/>
          </a:xfrm>
          <a:prstGeom prst="line">
            <a:avLst/>
          </a:prstGeom>
          <a:ln w="47625">
            <a:solidFill>
              <a:srgbClr val="1A5FA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2" name="Text 10"/>
          <p:cNvSpPr txBox="1"/>
          <p:nvPr/>
        </p:nvSpPr>
        <p:spPr>
          <a:xfrm>
            <a:off x="552449" y="2098327"/>
            <a:ext cx="7589933" cy="161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b="1" sz="11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 Agents à modèle interne</a:t>
            </a:r>
          </a:p>
        </p:txBody>
      </p:sp>
      <p:sp>
        <p:nvSpPr>
          <p:cNvPr id="173" name="Text 11"/>
          <p:cNvSpPr txBox="1"/>
          <p:nvPr/>
        </p:nvSpPr>
        <p:spPr>
          <a:xfrm>
            <a:off x="552449" y="2307877"/>
            <a:ext cx="7589933" cy="146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Maintiennent une représentation de l'état du monde, mémoire des perceptions. Exemple : robot aspirateur.</a:t>
            </a:r>
          </a:p>
        </p:txBody>
      </p:sp>
      <p:sp>
        <p:nvSpPr>
          <p:cNvPr id="174" name="Text 12"/>
          <p:cNvSpPr/>
          <p:nvPr/>
        </p:nvSpPr>
        <p:spPr>
          <a:xfrm>
            <a:off x="7993559" y="2098327"/>
            <a:ext cx="645617" cy="209551"/>
          </a:xfrm>
          <a:prstGeom prst="roundRect">
            <a:avLst>
              <a:gd name="adj" fmla="val 18182"/>
            </a:avLst>
          </a:prstGeom>
          <a:solidFill>
            <a:srgbClr val="1A5FA3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5" name="Text 13"/>
          <p:cNvSpPr txBox="1"/>
          <p:nvPr/>
        </p:nvSpPr>
        <p:spPr>
          <a:xfrm>
            <a:off x="8088809" y="2136427"/>
            <a:ext cx="4642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MÉMOIRE</a:t>
            </a:r>
          </a:p>
        </p:txBody>
      </p:sp>
      <p:sp>
        <p:nvSpPr>
          <p:cNvPr id="176" name="Text 14"/>
          <p:cNvSpPr/>
          <p:nvPr/>
        </p:nvSpPr>
        <p:spPr>
          <a:xfrm>
            <a:off x="381000" y="2725042"/>
            <a:ext cx="8382000" cy="655291"/>
          </a:xfrm>
          <a:prstGeom prst="roundRect">
            <a:avLst>
              <a:gd name="adj" fmla="val 872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77" name="Shape 15"/>
          <p:cNvSpPr/>
          <p:nvPr/>
        </p:nvSpPr>
        <p:spPr>
          <a:xfrm flipH="1">
            <a:off x="404813" y="2725042"/>
            <a:ext cx="1" cy="655291"/>
          </a:xfrm>
          <a:prstGeom prst="line">
            <a:avLst/>
          </a:prstGeom>
          <a:ln w="47625">
            <a:solidFill>
              <a:srgbClr val="4A7FB8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16"/>
          <p:cNvSpPr txBox="1"/>
          <p:nvPr/>
        </p:nvSpPr>
        <p:spPr>
          <a:xfrm>
            <a:off x="552449" y="2848867"/>
            <a:ext cx="7697714" cy="161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b="1" sz="11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3. Agents orientés objectifs</a:t>
            </a:r>
          </a:p>
        </p:txBody>
      </p:sp>
      <p:sp>
        <p:nvSpPr>
          <p:cNvPr id="179" name="Text 17"/>
          <p:cNvSpPr txBox="1"/>
          <p:nvPr/>
        </p:nvSpPr>
        <p:spPr>
          <a:xfrm>
            <a:off x="552449" y="3058417"/>
            <a:ext cx="7697714" cy="146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Objectifs explicites, planification de séquences d'actions. Grande flexibilité. Exemple : GPS avec recalcul d'itinéraire.</a:t>
            </a:r>
          </a:p>
        </p:txBody>
      </p:sp>
      <p:sp>
        <p:nvSpPr>
          <p:cNvPr id="180" name="Text 18"/>
          <p:cNvSpPr/>
          <p:nvPr/>
        </p:nvSpPr>
        <p:spPr>
          <a:xfrm>
            <a:off x="8099227" y="2848867"/>
            <a:ext cx="539949" cy="209551"/>
          </a:xfrm>
          <a:prstGeom prst="roundRect">
            <a:avLst>
              <a:gd name="adj" fmla="val 18182"/>
            </a:avLst>
          </a:prstGeom>
          <a:solidFill>
            <a:srgbClr val="4A7FB8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81" name="Text 19"/>
          <p:cNvSpPr txBox="1"/>
          <p:nvPr/>
        </p:nvSpPr>
        <p:spPr>
          <a:xfrm>
            <a:off x="8194477" y="2886967"/>
            <a:ext cx="3564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PLANIF.</a:t>
            </a:r>
          </a:p>
        </p:txBody>
      </p:sp>
      <p:sp>
        <p:nvSpPr>
          <p:cNvPr id="182" name="Text 20"/>
          <p:cNvSpPr/>
          <p:nvPr/>
        </p:nvSpPr>
        <p:spPr>
          <a:xfrm>
            <a:off x="381000" y="3475582"/>
            <a:ext cx="8382000" cy="655291"/>
          </a:xfrm>
          <a:prstGeom prst="roundRect">
            <a:avLst>
              <a:gd name="adj" fmla="val 872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83" name="Shape 21"/>
          <p:cNvSpPr/>
          <p:nvPr/>
        </p:nvSpPr>
        <p:spPr>
          <a:xfrm flipH="1">
            <a:off x="404813" y="3475582"/>
            <a:ext cx="1" cy="655291"/>
          </a:xfrm>
          <a:prstGeom prst="line">
            <a:avLst/>
          </a:prstGeom>
          <a:ln w="47625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Text 22"/>
          <p:cNvSpPr txBox="1"/>
          <p:nvPr/>
        </p:nvSpPr>
        <p:spPr>
          <a:xfrm>
            <a:off x="552450" y="3599407"/>
            <a:ext cx="7627578" cy="161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b="1" sz="11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4. Agents basés sur l'utilité</a:t>
            </a:r>
          </a:p>
        </p:txBody>
      </p:sp>
      <p:sp>
        <p:nvSpPr>
          <p:cNvPr id="185" name="Text 23"/>
          <p:cNvSpPr txBox="1"/>
          <p:nvPr/>
        </p:nvSpPr>
        <p:spPr>
          <a:xfrm>
            <a:off x="552450" y="3808957"/>
            <a:ext cx="7627578" cy="1461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Fonction d'utilité quantifiant la satisfaction, gestion de critères contradictoires. Exemple : trading algorithmique.</a:t>
            </a:r>
          </a:p>
        </p:txBody>
      </p:sp>
      <p:sp>
        <p:nvSpPr>
          <p:cNvPr id="186" name="Text 24"/>
          <p:cNvSpPr/>
          <p:nvPr/>
        </p:nvSpPr>
        <p:spPr>
          <a:xfrm>
            <a:off x="8030467" y="3599407"/>
            <a:ext cx="608708" cy="209551"/>
          </a:xfrm>
          <a:prstGeom prst="roundRect">
            <a:avLst>
              <a:gd name="adj" fmla="val 18182"/>
            </a:avLst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87" name="Text 25"/>
          <p:cNvSpPr txBox="1"/>
          <p:nvPr/>
        </p:nvSpPr>
        <p:spPr>
          <a:xfrm>
            <a:off x="8125717" y="3637507"/>
            <a:ext cx="42657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OPTIMAL</a:t>
            </a:r>
          </a:p>
        </p:txBody>
      </p:sp>
      <p:pic>
        <p:nvPicPr>
          <p:cNvPr id="188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4226123"/>
            <a:ext cx="8382000" cy="655291"/>
          </a:xfrm>
          <a:prstGeom prst="rect">
            <a:avLst/>
          </a:prstGeom>
          <a:ln w="12700">
            <a:miter lim="400000"/>
          </a:ln>
        </p:spPr>
      </p:pic>
      <p:sp>
        <p:nvSpPr>
          <p:cNvPr id="189" name="Text 26"/>
          <p:cNvSpPr txBox="1"/>
          <p:nvPr/>
        </p:nvSpPr>
        <p:spPr>
          <a:xfrm>
            <a:off x="504824" y="4349948"/>
            <a:ext cx="7582646" cy="161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300"/>
              </a:spcBef>
              <a:def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5. Agents apprenants</a:t>
            </a:r>
          </a:p>
        </p:txBody>
      </p:sp>
      <p:sp>
        <p:nvSpPr>
          <p:cNvPr id="190" name="Text 27"/>
          <p:cNvSpPr txBox="1"/>
          <p:nvPr/>
        </p:nvSpPr>
        <p:spPr>
          <a:xfrm>
            <a:off x="504824" y="4559498"/>
            <a:ext cx="7582646" cy="146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300"/>
              </a:spcBef>
              <a:defRPr sz="900">
                <a:solidFill>
                  <a:srgbClr val="FFFFFF">
                    <a:alpha val="9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Améliorent leurs performances par expérience. Architecture à 4 modules. Exemple : Netflix, systèmes de recommandation.</a:t>
            </a:r>
          </a:p>
        </p:txBody>
      </p:sp>
      <p:sp>
        <p:nvSpPr>
          <p:cNvPr id="191" name="Text 28"/>
          <p:cNvSpPr/>
          <p:nvPr/>
        </p:nvSpPr>
        <p:spPr>
          <a:xfrm>
            <a:off x="7938789" y="4349948"/>
            <a:ext cx="700386" cy="209551"/>
          </a:xfrm>
          <a:prstGeom prst="roundRect">
            <a:avLst>
              <a:gd name="adj" fmla="val 18182"/>
            </a:avLst>
          </a:prstGeom>
          <a:solidFill>
            <a:srgbClr val="FFFFFF">
              <a:alpha val="3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92" name="Text 29"/>
          <p:cNvSpPr txBox="1"/>
          <p:nvPr/>
        </p:nvSpPr>
        <p:spPr>
          <a:xfrm>
            <a:off x="8008700" y="4393777"/>
            <a:ext cx="6153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ADAPTATIF</a:t>
            </a:r>
          </a:p>
        </p:txBody>
      </p:sp>
      <p:sp>
        <p:nvSpPr>
          <p:cNvPr id="193" name="Text 30"/>
          <p:cNvSpPr txBox="1"/>
          <p:nvPr/>
        </p:nvSpPr>
        <p:spPr>
          <a:xfrm>
            <a:off x="380999" y="4919512"/>
            <a:ext cx="389394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 complexité croissante des agents correspond à des capacités cognitives plus avancées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 txBox="1"/>
          <p:nvPr/>
        </p:nvSpPr>
        <p:spPr>
          <a:xfrm>
            <a:off x="380999" y="461366"/>
            <a:ext cx="6645404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Cas d'Utilisation des Agents Intelligents</a:t>
            </a:r>
          </a:p>
        </p:txBody>
      </p:sp>
      <p:sp>
        <p:nvSpPr>
          <p:cNvPr id="196" name="Text 1"/>
          <p:cNvSpPr/>
          <p:nvPr/>
        </p:nvSpPr>
        <p:spPr>
          <a:xfrm>
            <a:off x="381000" y="880466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97" name="Text 2"/>
          <p:cNvSpPr/>
          <p:nvPr/>
        </p:nvSpPr>
        <p:spPr>
          <a:xfrm>
            <a:off x="381000" y="1232891"/>
            <a:ext cx="2717751" cy="1253134"/>
          </a:xfrm>
          <a:prstGeom prst="roundRect">
            <a:avLst>
              <a:gd name="adj" fmla="val 456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198" name="Shape 3"/>
          <p:cNvSpPr/>
          <p:nvPr/>
        </p:nvSpPr>
        <p:spPr>
          <a:xfrm>
            <a:off x="381000" y="1251941"/>
            <a:ext cx="2717751" cy="1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4"/>
          <p:cNvSpPr txBox="1"/>
          <p:nvPr/>
        </p:nvSpPr>
        <p:spPr>
          <a:xfrm>
            <a:off x="514350" y="1404341"/>
            <a:ext cx="2500072" cy="383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💬</a:t>
            </a:r>
          </a:p>
        </p:txBody>
      </p:sp>
      <p:sp>
        <p:nvSpPr>
          <p:cNvPr id="200" name="Text 5"/>
          <p:cNvSpPr txBox="1"/>
          <p:nvPr/>
        </p:nvSpPr>
        <p:spPr>
          <a:xfrm>
            <a:off x="514350" y="1853802"/>
            <a:ext cx="2500072" cy="135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Assistants Virtuels</a:t>
            </a:r>
          </a:p>
        </p:txBody>
      </p:sp>
      <p:sp>
        <p:nvSpPr>
          <p:cNvPr id="201" name="Text 6"/>
          <p:cNvSpPr txBox="1"/>
          <p:nvPr/>
        </p:nvSpPr>
        <p:spPr>
          <a:xfrm>
            <a:off x="514350" y="2059483"/>
            <a:ext cx="2500072" cy="27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Siri, Alexa : NLP, apprentissage des préférences, combinaison réflexe/objectif</a:t>
            </a:r>
          </a:p>
        </p:txBody>
      </p:sp>
      <p:sp>
        <p:nvSpPr>
          <p:cNvPr id="202" name="Text 7"/>
          <p:cNvSpPr/>
          <p:nvPr/>
        </p:nvSpPr>
        <p:spPr>
          <a:xfrm>
            <a:off x="3213050" y="1232891"/>
            <a:ext cx="2717751" cy="1253134"/>
          </a:xfrm>
          <a:prstGeom prst="roundRect">
            <a:avLst>
              <a:gd name="adj" fmla="val 456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3" name="Shape 8"/>
          <p:cNvSpPr/>
          <p:nvPr/>
        </p:nvSpPr>
        <p:spPr>
          <a:xfrm>
            <a:off x="3213050" y="1251941"/>
            <a:ext cx="2717751" cy="1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9"/>
          <p:cNvSpPr txBox="1"/>
          <p:nvPr/>
        </p:nvSpPr>
        <p:spPr>
          <a:xfrm>
            <a:off x="3346400" y="1404341"/>
            <a:ext cx="2500072" cy="383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🚗</a:t>
            </a:r>
          </a:p>
        </p:txBody>
      </p:sp>
      <p:sp>
        <p:nvSpPr>
          <p:cNvPr id="205" name="Text 10"/>
          <p:cNvSpPr txBox="1"/>
          <p:nvPr/>
        </p:nvSpPr>
        <p:spPr>
          <a:xfrm>
            <a:off x="3346400" y="1853802"/>
            <a:ext cx="2500072" cy="135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Véhicules Autonomes</a:t>
            </a:r>
          </a:p>
        </p:txBody>
      </p:sp>
      <p:sp>
        <p:nvSpPr>
          <p:cNvPr id="206" name="Text 11"/>
          <p:cNvSpPr txBox="1"/>
          <p:nvPr/>
        </p:nvSpPr>
        <p:spPr>
          <a:xfrm>
            <a:off x="3346400" y="2059483"/>
            <a:ext cx="2500072" cy="27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Perception multi-capteurs, planification trajectoire, réflexes d'urgence, sécurité</a:t>
            </a:r>
          </a:p>
        </p:txBody>
      </p:sp>
      <p:sp>
        <p:nvSpPr>
          <p:cNvPr id="207" name="Text 12"/>
          <p:cNvSpPr/>
          <p:nvPr/>
        </p:nvSpPr>
        <p:spPr>
          <a:xfrm>
            <a:off x="6045101" y="1232891"/>
            <a:ext cx="2717900" cy="1253134"/>
          </a:xfrm>
          <a:prstGeom prst="roundRect">
            <a:avLst>
              <a:gd name="adj" fmla="val 456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08" name="Shape 13"/>
          <p:cNvSpPr/>
          <p:nvPr/>
        </p:nvSpPr>
        <p:spPr>
          <a:xfrm>
            <a:off x="6045101" y="1251941"/>
            <a:ext cx="2717900" cy="1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14"/>
          <p:cNvSpPr txBox="1"/>
          <p:nvPr/>
        </p:nvSpPr>
        <p:spPr>
          <a:xfrm>
            <a:off x="6178451" y="1404341"/>
            <a:ext cx="2500224" cy="383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💰</a:t>
            </a:r>
          </a:p>
        </p:txBody>
      </p:sp>
      <p:sp>
        <p:nvSpPr>
          <p:cNvPr id="210" name="Text 15"/>
          <p:cNvSpPr txBox="1"/>
          <p:nvPr/>
        </p:nvSpPr>
        <p:spPr>
          <a:xfrm>
            <a:off x="6178451" y="1853802"/>
            <a:ext cx="2500224" cy="135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Finance</a:t>
            </a:r>
          </a:p>
        </p:txBody>
      </p:sp>
      <p:sp>
        <p:nvSpPr>
          <p:cNvPr id="211" name="Text 16"/>
          <p:cNvSpPr txBox="1"/>
          <p:nvPr/>
        </p:nvSpPr>
        <p:spPr>
          <a:xfrm>
            <a:off x="6178451" y="2059483"/>
            <a:ext cx="2500224" cy="27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Détection fraude temps réel, trading algorithmique haute fréquence, systèmes multi-agents</a:t>
            </a:r>
          </a:p>
        </p:txBody>
      </p:sp>
      <p:sp>
        <p:nvSpPr>
          <p:cNvPr id="212" name="Text 17"/>
          <p:cNvSpPr/>
          <p:nvPr/>
        </p:nvSpPr>
        <p:spPr>
          <a:xfrm>
            <a:off x="381000" y="2600325"/>
            <a:ext cx="2717751" cy="1253134"/>
          </a:xfrm>
          <a:prstGeom prst="roundRect">
            <a:avLst>
              <a:gd name="adj" fmla="val 456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3" name="Shape 18"/>
          <p:cNvSpPr/>
          <p:nvPr/>
        </p:nvSpPr>
        <p:spPr>
          <a:xfrm>
            <a:off x="381000" y="2619375"/>
            <a:ext cx="2717751" cy="0"/>
          </a:xfrm>
          <a:prstGeom prst="line">
            <a:avLst/>
          </a:prstGeom>
          <a:ln w="38100">
            <a:solidFill>
              <a:srgbClr val="1A5FA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19"/>
          <p:cNvSpPr txBox="1"/>
          <p:nvPr/>
        </p:nvSpPr>
        <p:spPr>
          <a:xfrm>
            <a:off x="514350" y="2771775"/>
            <a:ext cx="2500072" cy="38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🏥</a:t>
            </a:r>
          </a:p>
        </p:txBody>
      </p:sp>
      <p:sp>
        <p:nvSpPr>
          <p:cNvPr id="215" name="Text 20"/>
          <p:cNvSpPr txBox="1"/>
          <p:nvPr/>
        </p:nvSpPr>
        <p:spPr>
          <a:xfrm>
            <a:off x="514350" y="3221235"/>
            <a:ext cx="2500072" cy="135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Santé</a:t>
            </a:r>
          </a:p>
        </p:txBody>
      </p:sp>
      <p:sp>
        <p:nvSpPr>
          <p:cNvPr id="216" name="Text 21"/>
          <p:cNvSpPr txBox="1"/>
          <p:nvPr/>
        </p:nvSpPr>
        <p:spPr>
          <a:xfrm>
            <a:off x="514350" y="3426916"/>
            <a:ext cx="2500072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Analyse d'images médicales, surveillance vitale temps réel, recommandations thérapeutiques</a:t>
            </a:r>
          </a:p>
        </p:txBody>
      </p:sp>
      <p:sp>
        <p:nvSpPr>
          <p:cNvPr id="217" name="Text 22"/>
          <p:cNvSpPr/>
          <p:nvPr/>
        </p:nvSpPr>
        <p:spPr>
          <a:xfrm>
            <a:off x="3213050" y="2600325"/>
            <a:ext cx="2717751" cy="1253134"/>
          </a:xfrm>
          <a:prstGeom prst="roundRect">
            <a:avLst>
              <a:gd name="adj" fmla="val 456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18" name="Shape 23"/>
          <p:cNvSpPr/>
          <p:nvPr/>
        </p:nvSpPr>
        <p:spPr>
          <a:xfrm>
            <a:off x="3213050" y="2619375"/>
            <a:ext cx="2717751" cy="0"/>
          </a:xfrm>
          <a:prstGeom prst="line">
            <a:avLst/>
          </a:prstGeom>
          <a:ln w="38100">
            <a:solidFill>
              <a:srgbClr val="1A5FA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 24"/>
          <p:cNvSpPr txBox="1"/>
          <p:nvPr/>
        </p:nvSpPr>
        <p:spPr>
          <a:xfrm>
            <a:off x="3346400" y="2771775"/>
            <a:ext cx="2500072" cy="38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🎮</a:t>
            </a:r>
          </a:p>
        </p:txBody>
      </p:sp>
      <p:sp>
        <p:nvSpPr>
          <p:cNvPr id="220" name="Text 25"/>
          <p:cNvSpPr txBox="1"/>
          <p:nvPr/>
        </p:nvSpPr>
        <p:spPr>
          <a:xfrm>
            <a:off x="3346400" y="3221235"/>
            <a:ext cx="2500072" cy="135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Jeux Vidéo</a:t>
            </a:r>
          </a:p>
        </p:txBody>
      </p:sp>
      <p:sp>
        <p:nvSpPr>
          <p:cNvPr id="221" name="Text 26"/>
          <p:cNvSpPr txBox="1"/>
          <p:nvPr/>
        </p:nvSpPr>
        <p:spPr>
          <a:xfrm>
            <a:off x="3346400" y="3426916"/>
            <a:ext cx="2500072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PNJ intelligents, apprentissage par renforcement (AlphaGo, OpenAI Five)</a:t>
            </a:r>
          </a:p>
        </p:txBody>
      </p:sp>
      <p:sp>
        <p:nvSpPr>
          <p:cNvPr id="222" name="Text 27"/>
          <p:cNvSpPr/>
          <p:nvPr/>
        </p:nvSpPr>
        <p:spPr>
          <a:xfrm>
            <a:off x="6045101" y="2600325"/>
            <a:ext cx="2717900" cy="1253134"/>
          </a:xfrm>
          <a:prstGeom prst="roundRect">
            <a:avLst>
              <a:gd name="adj" fmla="val 4561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23" name="Shape 28"/>
          <p:cNvSpPr/>
          <p:nvPr/>
        </p:nvSpPr>
        <p:spPr>
          <a:xfrm>
            <a:off x="6045101" y="2619375"/>
            <a:ext cx="2717900" cy="0"/>
          </a:xfrm>
          <a:prstGeom prst="line">
            <a:avLst/>
          </a:prstGeom>
          <a:ln w="38100">
            <a:solidFill>
              <a:srgbClr val="1A5FA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29"/>
          <p:cNvSpPr txBox="1"/>
          <p:nvPr/>
        </p:nvSpPr>
        <p:spPr>
          <a:xfrm>
            <a:off x="6178451" y="2771775"/>
            <a:ext cx="2500224" cy="383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🏭</a:t>
            </a:r>
          </a:p>
        </p:txBody>
      </p:sp>
      <p:sp>
        <p:nvSpPr>
          <p:cNvPr id="225" name="Text 30"/>
          <p:cNvSpPr txBox="1"/>
          <p:nvPr/>
        </p:nvSpPr>
        <p:spPr>
          <a:xfrm>
            <a:off x="6178451" y="3221235"/>
            <a:ext cx="2500224" cy="135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Industrie 4.0</a:t>
            </a:r>
          </a:p>
        </p:txBody>
      </p:sp>
      <p:sp>
        <p:nvSpPr>
          <p:cNvPr id="226" name="Text 31"/>
          <p:cNvSpPr txBox="1"/>
          <p:nvPr/>
        </p:nvSpPr>
        <p:spPr>
          <a:xfrm>
            <a:off x="6178451" y="3426916"/>
            <a:ext cx="2500224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Systèmes multi-agents coordonnés, optimisation logistique distribuée</a:t>
            </a:r>
          </a:p>
        </p:txBody>
      </p:sp>
      <p:pic>
        <p:nvPicPr>
          <p:cNvPr id="22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4019894"/>
            <a:ext cx="8382000" cy="676276"/>
          </a:xfrm>
          <a:prstGeom prst="rect">
            <a:avLst/>
          </a:prstGeom>
          <a:ln w="12700">
            <a:miter lim="400000"/>
          </a:ln>
        </p:spPr>
      </p:pic>
      <p:sp>
        <p:nvSpPr>
          <p:cNvPr id="228" name="Text 32"/>
          <p:cNvSpPr txBox="1"/>
          <p:nvPr/>
        </p:nvSpPr>
        <p:spPr>
          <a:xfrm>
            <a:off x="439930" y="4175919"/>
            <a:ext cx="8238743" cy="344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400"/>
              </a:lnSpc>
              <a:def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Les agents intelligents transforment tous les secteurs</a:t>
            </a:r>
            <a:r>
              <a:rPr b="0"/>
              <a:t> en automatisant la prise de décision, en optimisant les processus et en s'adaptant continuellement aux environnements changeants.</a:t>
            </a:r>
          </a:p>
        </p:txBody>
      </p:sp>
      <p:sp>
        <p:nvSpPr>
          <p:cNvPr id="229" name="Text 33"/>
          <p:cNvSpPr txBox="1"/>
          <p:nvPr/>
        </p:nvSpPr>
        <p:spPr>
          <a:xfrm>
            <a:off x="380999" y="4781843"/>
            <a:ext cx="25784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Applications transversales dans tous les domaines d'activité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 0"/>
          <p:cNvSpPr txBox="1"/>
          <p:nvPr/>
        </p:nvSpPr>
        <p:spPr>
          <a:xfrm>
            <a:off x="380999" y="604837"/>
            <a:ext cx="8025005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Prérequis pour l'Intégration de l'IA en Entreprise</a:t>
            </a:r>
          </a:p>
        </p:txBody>
      </p:sp>
      <p:sp>
        <p:nvSpPr>
          <p:cNvPr id="232" name="Text 1"/>
          <p:cNvSpPr/>
          <p:nvPr/>
        </p:nvSpPr>
        <p:spPr>
          <a:xfrm>
            <a:off x="381000" y="1023937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23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1376362"/>
            <a:ext cx="4124325" cy="1047751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 2"/>
          <p:cNvSpPr txBox="1"/>
          <p:nvPr/>
        </p:nvSpPr>
        <p:spPr>
          <a:xfrm>
            <a:off x="514350" y="1509712"/>
            <a:ext cx="3934777" cy="1488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400"/>
              </a:spcBef>
              <a:defRPr b="1" sz="10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1. Infrastructure Technique &amp;  Compétences Humaines</a:t>
            </a:r>
          </a:p>
        </p:txBody>
      </p:sp>
      <p:sp>
        <p:nvSpPr>
          <p:cNvPr id="235" name="Text 3"/>
          <p:cNvSpPr txBox="1"/>
          <p:nvPr/>
        </p:nvSpPr>
        <p:spPr>
          <a:xfrm>
            <a:off x="514350" y="1726852"/>
            <a:ext cx="3934777" cy="552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Cloud , GPU/TPU pour accélération, plateformes MLOps…..</a:t>
            </a:r>
          </a:p>
          <a:p>
            <a:pPr>
              <a:lnSpc>
                <a:spcPts val="1100"/>
              </a:lnSpc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ts val="1100"/>
              </a:lnSpc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Data scientists, ingénieurs IA, expertise métier. Formation continue. Comités de pilotage stratégique</a:t>
            </a:r>
          </a:p>
        </p:txBody>
      </p:sp>
      <p:pic>
        <p:nvPicPr>
          <p:cNvPr id="23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1000" y="2528888"/>
            <a:ext cx="4124325" cy="1047751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4"/>
          <p:cNvSpPr txBox="1"/>
          <p:nvPr/>
        </p:nvSpPr>
        <p:spPr>
          <a:xfrm>
            <a:off x="514350" y="2662238"/>
            <a:ext cx="3934777" cy="148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400"/>
              </a:spcBef>
              <a:defRPr b="1" sz="10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2. Données de Qualité</a:t>
            </a:r>
          </a:p>
        </p:txBody>
      </p:sp>
      <p:sp>
        <p:nvSpPr>
          <p:cNvPr id="238" name="Text 5"/>
          <p:cNvSpPr txBox="1"/>
          <p:nvPr/>
        </p:nvSpPr>
        <p:spPr>
          <a:xfrm>
            <a:off x="514350" y="2879377"/>
            <a:ext cx="3934777" cy="27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Gouvernance stricte, collecte, nettoyage, validation. Conformité RGPD. Documentation exhaustive (metadata)</a:t>
            </a:r>
          </a:p>
        </p:txBody>
      </p:sp>
      <p:sp>
        <p:nvSpPr>
          <p:cNvPr id="239" name="Text 8"/>
          <p:cNvSpPr/>
          <p:nvPr/>
        </p:nvSpPr>
        <p:spPr>
          <a:xfrm>
            <a:off x="393700" y="3723868"/>
            <a:ext cx="4124325" cy="848399"/>
          </a:xfrm>
          <a:prstGeom prst="roundRect">
            <a:avLst>
              <a:gd name="adj" fmla="val 6737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40" name="Shape 9"/>
          <p:cNvSpPr/>
          <p:nvPr/>
        </p:nvSpPr>
        <p:spPr>
          <a:xfrm flipH="1">
            <a:off x="393891" y="3746862"/>
            <a:ext cx="1" cy="848400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10"/>
          <p:cNvSpPr txBox="1"/>
          <p:nvPr/>
        </p:nvSpPr>
        <p:spPr>
          <a:xfrm>
            <a:off x="552449" y="3857218"/>
            <a:ext cx="3895918" cy="148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400"/>
              </a:spcBef>
              <a:defRPr b="1" sz="10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4. Cadre Juridique et Éthique</a:t>
            </a:r>
          </a:p>
        </p:txBody>
      </p:sp>
      <p:sp>
        <p:nvSpPr>
          <p:cNvPr id="242" name="Text 11"/>
          <p:cNvSpPr txBox="1"/>
          <p:nvPr/>
        </p:nvSpPr>
        <p:spPr>
          <a:xfrm>
            <a:off x="552449" y="4074358"/>
            <a:ext cx="3895918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RGPD, AI Act européen. Prévention des biais. Transparence et explicabilité. Audits algorithmiques</a:t>
            </a:r>
          </a:p>
        </p:txBody>
      </p:sp>
      <p:sp>
        <p:nvSpPr>
          <p:cNvPr id="243" name="Text 16"/>
          <p:cNvSpPr/>
          <p:nvPr/>
        </p:nvSpPr>
        <p:spPr>
          <a:xfrm>
            <a:off x="4795727" y="2491998"/>
            <a:ext cx="4124326" cy="1047751"/>
          </a:xfrm>
          <a:prstGeom prst="roundRect">
            <a:avLst>
              <a:gd name="adj" fmla="val 5455"/>
            </a:avLst>
          </a:prstGeom>
          <a:solidFill>
            <a:srgbClr val="FFF3E0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44" name="Text 18"/>
          <p:cNvSpPr txBox="1"/>
          <p:nvPr/>
        </p:nvSpPr>
        <p:spPr>
          <a:xfrm>
            <a:off x="4967177" y="2844422"/>
            <a:ext cx="3895917" cy="4999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defRPr sz="1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⚠️ Ces prérequis sont </a:t>
            </a:r>
            <a:r>
              <a:rPr b="1">
                <a:solidFill>
                  <a:srgbClr val="003D7A"/>
                </a:solidFill>
              </a:rPr>
              <a:t>interdépendants</a:t>
            </a:r>
            <a:r>
              <a:t> </a:t>
            </a:r>
          </a:p>
          <a:p>
            <a:pPr>
              <a:lnSpc>
                <a:spcPts val="1300"/>
              </a:lnSpc>
              <a:defRPr sz="1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lnSpc>
                <a:spcPts val="1300"/>
              </a:lnSpc>
              <a:defRPr sz="1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Si un seul pilier manque, le projet s’effondre.</a:t>
            </a:r>
          </a:p>
        </p:txBody>
      </p:sp>
      <p:sp>
        <p:nvSpPr>
          <p:cNvPr id="245" name="Text 19"/>
          <p:cNvSpPr txBox="1"/>
          <p:nvPr/>
        </p:nvSpPr>
        <p:spPr>
          <a:xfrm>
            <a:off x="380999" y="4772025"/>
            <a:ext cx="4237630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Sans ces fondations solides, même les meilleurs algorithmes peinent à être déployés efficacement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 txBox="1"/>
          <p:nvPr/>
        </p:nvSpPr>
        <p:spPr>
          <a:xfrm>
            <a:off x="380999" y="635793"/>
            <a:ext cx="6305362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Domaines d'Application en Entreprise</a:t>
            </a:r>
          </a:p>
        </p:txBody>
      </p:sp>
      <p:sp>
        <p:nvSpPr>
          <p:cNvPr id="248" name="Text 1"/>
          <p:cNvSpPr/>
          <p:nvPr/>
        </p:nvSpPr>
        <p:spPr>
          <a:xfrm>
            <a:off x="381000" y="1054894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49" name="Text 2"/>
          <p:cNvSpPr/>
          <p:nvPr/>
        </p:nvSpPr>
        <p:spPr>
          <a:xfrm>
            <a:off x="381000" y="1407319"/>
            <a:ext cx="4133850" cy="736998"/>
          </a:xfrm>
          <a:prstGeom prst="roundRect">
            <a:avLst>
              <a:gd name="adj" fmla="val 7754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50" name="Shape 3"/>
          <p:cNvSpPr/>
          <p:nvPr/>
        </p:nvSpPr>
        <p:spPr>
          <a:xfrm flipH="1">
            <a:off x="400050" y="1407319"/>
            <a:ext cx="1" cy="736998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4"/>
          <p:cNvSpPr txBox="1"/>
          <p:nvPr/>
        </p:nvSpPr>
        <p:spPr>
          <a:xfrm>
            <a:off x="542925" y="1531144"/>
            <a:ext cx="3925062" cy="1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🎧 Service Client 24/7</a:t>
            </a:r>
          </a:p>
        </p:txBody>
      </p:sp>
      <p:sp>
        <p:nvSpPr>
          <p:cNvPr id="252" name="Text 5"/>
          <p:cNvSpPr txBox="1"/>
          <p:nvPr/>
        </p:nvSpPr>
        <p:spPr>
          <a:xfrm>
            <a:off x="542925" y="1727299"/>
            <a:ext cx="3925062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Chatbots et assistants virtuels traitent 80% des demandes simples, réduction temps de réponse de heures à secondes</a:t>
            </a:r>
          </a:p>
        </p:txBody>
      </p:sp>
      <p:sp>
        <p:nvSpPr>
          <p:cNvPr id="253" name="Text 6"/>
          <p:cNvSpPr/>
          <p:nvPr/>
        </p:nvSpPr>
        <p:spPr>
          <a:xfrm>
            <a:off x="4629150" y="1407319"/>
            <a:ext cx="4133850" cy="736998"/>
          </a:xfrm>
          <a:prstGeom prst="roundRect">
            <a:avLst>
              <a:gd name="adj" fmla="val 7754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54" name="Shape 7"/>
          <p:cNvSpPr/>
          <p:nvPr/>
        </p:nvSpPr>
        <p:spPr>
          <a:xfrm>
            <a:off x="4648200" y="1407319"/>
            <a:ext cx="1" cy="736998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8"/>
          <p:cNvSpPr txBox="1"/>
          <p:nvPr/>
        </p:nvSpPr>
        <p:spPr>
          <a:xfrm>
            <a:off x="4791075" y="1531144"/>
            <a:ext cx="3925062" cy="1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📦 Logistique Optimisée</a:t>
            </a:r>
          </a:p>
        </p:txBody>
      </p:sp>
      <p:sp>
        <p:nvSpPr>
          <p:cNvPr id="256" name="Text 9"/>
          <p:cNvSpPr txBox="1"/>
          <p:nvPr/>
        </p:nvSpPr>
        <p:spPr>
          <a:xfrm>
            <a:off x="4791075" y="1727299"/>
            <a:ext cx="3925062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Prévision demande, optimisation stocks dynamique, routage intelligent. Amazon économise millions de litres de carburant</a:t>
            </a:r>
          </a:p>
        </p:txBody>
      </p:sp>
      <p:sp>
        <p:nvSpPr>
          <p:cNvPr id="257" name="Text 10"/>
          <p:cNvSpPr/>
          <p:nvPr/>
        </p:nvSpPr>
        <p:spPr>
          <a:xfrm>
            <a:off x="381000" y="2258616"/>
            <a:ext cx="4133850" cy="736998"/>
          </a:xfrm>
          <a:prstGeom prst="roundRect">
            <a:avLst>
              <a:gd name="adj" fmla="val 7754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58" name="Shape 11"/>
          <p:cNvSpPr/>
          <p:nvPr/>
        </p:nvSpPr>
        <p:spPr>
          <a:xfrm flipH="1">
            <a:off x="400050" y="2258615"/>
            <a:ext cx="1" cy="736998"/>
          </a:xfrm>
          <a:prstGeom prst="line">
            <a:avLst/>
          </a:prstGeom>
          <a:ln w="38100">
            <a:solidFill>
              <a:srgbClr val="1A5FA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9" name="Text 12"/>
          <p:cNvSpPr txBox="1"/>
          <p:nvPr/>
        </p:nvSpPr>
        <p:spPr>
          <a:xfrm>
            <a:off x="542925" y="2382441"/>
            <a:ext cx="3925062" cy="1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🏭 Production Intelligente</a:t>
            </a:r>
          </a:p>
        </p:txBody>
      </p:sp>
      <p:sp>
        <p:nvSpPr>
          <p:cNvPr id="260" name="Text 13"/>
          <p:cNvSpPr txBox="1"/>
          <p:nvPr/>
        </p:nvSpPr>
        <p:spPr>
          <a:xfrm>
            <a:off x="542925" y="2578596"/>
            <a:ext cx="3925062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Maintenance prédictive : -20-50% arrêts non planifiés, -10-40% coûts. Vision industrielle détecte défauts microscopiques</a:t>
            </a:r>
          </a:p>
        </p:txBody>
      </p:sp>
      <p:sp>
        <p:nvSpPr>
          <p:cNvPr id="261" name="Text 14"/>
          <p:cNvSpPr/>
          <p:nvPr/>
        </p:nvSpPr>
        <p:spPr>
          <a:xfrm>
            <a:off x="4629150" y="2258616"/>
            <a:ext cx="4133850" cy="736998"/>
          </a:xfrm>
          <a:prstGeom prst="roundRect">
            <a:avLst>
              <a:gd name="adj" fmla="val 7754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62" name="Shape 15"/>
          <p:cNvSpPr/>
          <p:nvPr/>
        </p:nvSpPr>
        <p:spPr>
          <a:xfrm>
            <a:off x="4648200" y="2258615"/>
            <a:ext cx="1" cy="736998"/>
          </a:xfrm>
          <a:prstGeom prst="line">
            <a:avLst/>
          </a:prstGeom>
          <a:ln w="38100">
            <a:solidFill>
              <a:srgbClr val="1A5FA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3" name="Text 16"/>
          <p:cNvSpPr txBox="1"/>
          <p:nvPr/>
        </p:nvSpPr>
        <p:spPr>
          <a:xfrm>
            <a:off x="4791075" y="2382441"/>
            <a:ext cx="3925062" cy="1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🎯 Marketing Personnalisé</a:t>
            </a:r>
          </a:p>
        </p:txBody>
      </p:sp>
      <p:sp>
        <p:nvSpPr>
          <p:cNvPr id="264" name="Text 17"/>
          <p:cNvSpPr txBox="1"/>
          <p:nvPr/>
        </p:nvSpPr>
        <p:spPr>
          <a:xfrm>
            <a:off x="4791075" y="2578596"/>
            <a:ext cx="3925062" cy="2729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Segmentation granulaire, campagnes ultra-ciblées, recommandations individualisées. Netflix fidélise par personnalisation</a:t>
            </a:r>
          </a:p>
        </p:txBody>
      </p:sp>
      <p:sp>
        <p:nvSpPr>
          <p:cNvPr id="265" name="Text 18"/>
          <p:cNvSpPr/>
          <p:nvPr/>
        </p:nvSpPr>
        <p:spPr>
          <a:xfrm>
            <a:off x="381000" y="3109913"/>
            <a:ext cx="4133850" cy="736998"/>
          </a:xfrm>
          <a:prstGeom prst="roundRect">
            <a:avLst>
              <a:gd name="adj" fmla="val 7754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66" name="Shape 19"/>
          <p:cNvSpPr/>
          <p:nvPr/>
        </p:nvSpPr>
        <p:spPr>
          <a:xfrm flipH="1">
            <a:off x="400050" y="3109913"/>
            <a:ext cx="1" cy="736998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Text 20"/>
          <p:cNvSpPr txBox="1"/>
          <p:nvPr/>
        </p:nvSpPr>
        <p:spPr>
          <a:xfrm>
            <a:off x="542925" y="3233738"/>
            <a:ext cx="3925062" cy="1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💳 Finance &amp; Comptabilité</a:t>
            </a:r>
          </a:p>
        </p:txBody>
      </p:sp>
      <p:sp>
        <p:nvSpPr>
          <p:cNvPr id="268" name="Text 21"/>
          <p:cNvSpPr txBox="1"/>
          <p:nvPr/>
        </p:nvSpPr>
        <p:spPr>
          <a:xfrm>
            <a:off x="542925" y="3429892"/>
            <a:ext cx="3925062" cy="27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Détection fraude temps réel, analyse prédictive, automatisation comptable via OCR. Processus plus rapides et fiables</a:t>
            </a:r>
          </a:p>
        </p:txBody>
      </p:sp>
      <p:sp>
        <p:nvSpPr>
          <p:cNvPr id="269" name="Text 22"/>
          <p:cNvSpPr/>
          <p:nvPr/>
        </p:nvSpPr>
        <p:spPr>
          <a:xfrm>
            <a:off x="4629150" y="3109913"/>
            <a:ext cx="4133850" cy="736998"/>
          </a:xfrm>
          <a:prstGeom prst="roundRect">
            <a:avLst>
              <a:gd name="adj" fmla="val 7754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70" name="Shape 23"/>
          <p:cNvSpPr/>
          <p:nvPr/>
        </p:nvSpPr>
        <p:spPr>
          <a:xfrm>
            <a:off x="4648200" y="3109913"/>
            <a:ext cx="1" cy="736998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1" name="Text 24"/>
          <p:cNvSpPr txBox="1"/>
          <p:nvPr/>
        </p:nvSpPr>
        <p:spPr>
          <a:xfrm>
            <a:off x="4791075" y="3233738"/>
            <a:ext cx="3925062" cy="1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👥 Ressources Humaines</a:t>
            </a:r>
          </a:p>
        </p:txBody>
      </p:sp>
      <p:sp>
        <p:nvSpPr>
          <p:cNvPr id="272" name="Text 25"/>
          <p:cNvSpPr txBox="1"/>
          <p:nvPr/>
        </p:nvSpPr>
        <p:spPr>
          <a:xfrm>
            <a:off x="4791075" y="3429892"/>
            <a:ext cx="3925062" cy="27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Présélection CV automatique, matching profil/poste, prédiction turnover, planification formations. Objectivité accrue</a:t>
            </a:r>
          </a:p>
        </p:txBody>
      </p:sp>
      <p:sp>
        <p:nvSpPr>
          <p:cNvPr id="273" name="Text 26"/>
          <p:cNvSpPr/>
          <p:nvPr/>
        </p:nvSpPr>
        <p:spPr>
          <a:xfrm>
            <a:off x="381000" y="3961208"/>
            <a:ext cx="4133850" cy="736999"/>
          </a:xfrm>
          <a:prstGeom prst="roundRect">
            <a:avLst>
              <a:gd name="adj" fmla="val 7754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74" name="Shape 27"/>
          <p:cNvSpPr/>
          <p:nvPr/>
        </p:nvSpPr>
        <p:spPr>
          <a:xfrm flipH="1">
            <a:off x="400050" y="3961208"/>
            <a:ext cx="1" cy="736998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28"/>
          <p:cNvSpPr txBox="1"/>
          <p:nvPr/>
        </p:nvSpPr>
        <p:spPr>
          <a:xfrm>
            <a:off x="542925" y="4085033"/>
            <a:ext cx="3925062" cy="156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🛡️ Cybersécurité Proactive</a:t>
            </a:r>
          </a:p>
        </p:txBody>
      </p:sp>
      <p:sp>
        <p:nvSpPr>
          <p:cNvPr id="276" name="Text 29"/>
          <p:cNvSpPr txBox="1"/>
          <p:nvPr/>
        </p:nvSpPr>
        <p:spPr>
          <a:xfrm>
            <a:off x="542925" y="4281189"/>
            <a:ext cx="3925062" cy="27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Analyse continue trafic réseau, détection anomalies temps réel, identification intrusions subtiles parmi millions d'événements</a:t>
            </a:r>
          </a:p>
        </p:txBody>
      </p:sp>
      <p:pic>
        <p:nvPicPr>
          <p:cNvPr id="277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29150" y="3961208"/>
            <a:ext cx="4133850" cy="736999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Text 30"/>
          <p:cNvSpPr txBox="1"/>
          <p:nvPr/>
        </p:nvSpPr>
        <p:spPr>
          <a:xfrm>
            <a:off x="4752975" y="4085033"/>
            <a:ext cx="3963924" cy="156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📊 Impact Mesurable</a:t>
            </a:r>
          </a:p>
        </p:txBody>
      </p:sp>
      <p:sp>
        <p:nvSpPr>
          <p:cNvPr id="279" name="Text 31"/>
          <p:cNvSpPr txBox="1"/>
          <p:nvPr/>
        </p:nvSpPr>
        <p:spPr>
          <a:xfrm>
            <a:off x="4752975" y="4281189"/>
            <a:ext cx="3963924" cy="272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+20-30% productivité, -15-25% coûts opérationnels, amélioration satisfaction client, avantages concurrentiels décisifs</a:t>
            </a:r>
          </a:p>
        </p:txBody>
      </p:sp>
      <p:sp>
        <p:nvSpPr>
          <p:cNvPr id="280" name="Text 32"/>
          <p:cNvSpPr txBox="1"/>
          <p:nvPr/>
        </p:nvSpPr>
        <p:spPr>
          <a:xfrm>
            <a:off x="381000" y="4772025"/>
            <a:ext cx="4177361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Les agents IA trouvent applications à forte valeur ajoutée dans toutes les fonctions de l'entreprise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 0"/>
          <p:cNvSpPr txBox="1"/>
          <p:nvPr/>
        </p:nvSpPr>
        <p:spPr>
          <a:xfrm>
            <a:off x="381000" y="461962"/>
            <a:ext cx="5508689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Impacts sur les Business Models</a:t>
            </a:r>
          </a:p>
        </p:txBody>
      </p:sp>
      <p:sp>
        <p:nvSpPr>
          <p:cNvPr id="283" name="Text 1"/>
          <p:cNvSpPr/>
          <p:nvPr/>
        </p:nvSpPr>
        <p:spPr>
          <a:xfrm>
            <a:off x="381000" y="881062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28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1233487"/>
            <a:ext cx="4129088" cy="8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Text 2"/>
          <p:cNvSpPr txBox="1"/>
          <p:nvPr/>
        </p:nvSpPr>
        <p:spPr>
          <a:xfrm>
            <a:off x="523875" y="1376362"/>
            <a:ext cx="3920204" cy="186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600"/>
              </a:spcBef>
              <a:defRPr b="1" sz="11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🚀 Transformation Numérique</a:t>
            </a:r>
          </a:p>
        </p:txBody>
      </p:sp>
      <p:sp>
        <p:nvSpPr>
          <p:cNvPr id="286" name="Text 3"/>
          <p:cNvSpPr txBox="1"/>
          <p:nvPr/>
        </p:nvSpPr>
        <p:spPr>
          <a:xfrm>
            <a:off x="523875" y="1624012"/>
            <a:ext cx="3920204" cy="32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L'IA s'impose comme pilier stratégique. Démocratisation technologique permettant aux PME d'accéder à capacités avancées.</a:t>
            </a:r>
          </a:p>
        </p:txBody>
      </p:sp>
      <p:pic>
        <p:nvPicPr>
          <p:cNvPr id="28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633912" y="1233487"/>
            <a:ext cx="4129089" cy="8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Text 4"/>
          <p:cNvSpPr txBox="1"/>
          <p:nvPr/>
        </p:nvSpPr>
        <p:spPr>
          <a:xfrm>
            <a:off x="4776787" y="1376362"/>
            <a:ext cx="3920205" cy="186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600"/>
              </a:spcBef>
              <a:defRPr b="1" sz="11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⚡ Automatisation Massive</a:t>
            </a:r>
          </a:p>
        </p:txBody>
      </p:sp>
      <p:sp>
        <p:nvSpPr>
          <p:cNvPr id="289" name="Text 5"/>
          <p:cNvSpPr txBox="1"/>
          <p:nvPr/>
        </p:nvSpPr>
        <p:spPr>
          <a:xfrm>
            <a:off x="4776787" y="1624012"/>
            <a:ext cx="3920205" cy="32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65% des entreprises ont automatisé au moins un processus significatif. Gains +20-30% productivité, -15-25% coûts.</a:t>
            </a:r>
          </a:p>
        </p:txBody>
      </p:sp>
      <p:sp>
        <p:nvSpPr>
          <p:cNvPr id="290" name="Text 6"/>
          <p:cNvSpPr/>
          <p:nvPr/>
        </p:nvSpPr>
        <p:spPr>
          <a:xfrm>
            <a:off x="381000" y="2233613"/>
            <a:ext cx="4129088" cy="876301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1" name="Shape 7"/>
          <p:cNvSpPr/>
          <p:nvPr/>
        </p:nvSpPr>
        <p:spPr>
          <a:xfrm flipH="1">
            <a:off x="400049" y="2233613"/>
            <a:ext cx="1" cy="876301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 8"/>
          <p:cNvSpPr txBox="1"/>
          <p:nvPr/>
        </p:nvSpPr>
        <p:spPr>
          <a:xfrm>
            <a:off x="561974" y="2376488"/>
            <a:ext cx="3881344" cy="186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600"/>
              </a:spcBef>
              <a:defRPr b="1" sz="11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🎯 Personnalisation à l'Échelle</a:t>
            </a:r>
          </a:p>
        </p:txBody>
      </p:sp>
      <p:sp>
        <p:nvSpPr>
          <p:cNvPr id="293" name="Text 9"/>
          <p:cNvSpPr txBox="1"/>
          <p:nvPr/>
        </p:nvSpPr>
        <p:spPr>
          <a:xfrm>
            <a:off x="561974" y="2624138"/>
            <a:ext cx="3881344" cy="32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Offres sur-mesure pour chaque client. Netflix et Amazon font de la personnalisation IA un élément central de leur modèle.</a:t>
            </a:r>
          </a:p>
        </p:txBody>
      </p:sp>
      <p:sp>
        <p:nvSpPr>
          <p:cNvPr id="294" name="Text 10"/>
          <p:cNvSpPr/>
          <p:nvPr/>
        </p:nvSpPr>
        <p:spPr>
          <a:xfrm>
            <a:off x="4633912" y="2233613"/>
            <a:ext cx="4129089" cy="876301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5" name="Shape 11"/>
          <p:cNvSpPr/>
          <p:nvPr/>
        </p:nvSpPr>
        <p:spPr>
          <a:xfrm>
            <a:off x="4652962" y="2233613"/>
            <a:ext cx="1" cy="876301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12"/>
          <p:cNvSpPr txBox="1"/>
          <p:nvPr/>
        </p:nvSpPr>
        <p:spPr>
          <a:xfrm>
            <a:off x="4814887" y="2376488"/>
            <a:ext cx="3881344" cy="186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600"/>
              </a:spcBef>
              <a:defRPr b="1" sz="11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🏢 Réorganisation Structurelle</a:t>
            </a:r>
          </a:p>
        </p:txBody>
      </p:sp>
      <p:sp>
        <p:nvSpPr>
          <p:cNvPr id="297" name="Text 13"/>
          <p:cNvSpPr txBox="1"/>
          <p:nvPr/>
        </p:nvSpPr>
        <p:spPr>
          <a:xfrm>
            <a:off x="4814887" y="2624138"/>
            <a:ext cx="3881344" cy="32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Émergence de nouvelles équipes transversales : centres excellence IA, cellules data science, équipes MLOps.</a:t>
            </a:r>
          </a:p>
        </p:txBody>
      </p:sp>
      <p:sp>
        <p:nvSpPr>
          <p:cNvPr id="298" name="Text 14"/>
          <p:cNvSpPr/>
          <p:nvPr/>
        </p:nvSpPr>
        <p:spPr>
          <a:xfrm>
            <a:off x="381000" y="3233738"/>
            <a:ext cx="4129088" cy="876301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299" name="Shape 15"/>
          <p:cNvSpPr/>
          <p:nvPr/>
        </p:nvSpPr>
        <p:spPr>
          <a:xfrm flipH="1">
            <a:off x="400049" y="3233738"/>
            <a:ext cx="1" cy="876301"/>
          </a:xfrm>
          <a:prstGeom prst="line">
            <a:avLst/>
          </a:prstGeom>
          <a:ln w="38100">
            <a:solidFill>
              <a:srgbClr val="1A5FA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 16"/>
          <p:cNvSpPr txBox="1"/>
          <p:nvPr/>
        </p:nvSpPr>
        <p:spPr>
          <a:xfrm>
            <a:off x="561974" y="3376612"/>
            <a:ext cx="3881344" cy="186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600"/>
              </a:spcBef>
              <a:defRPr b="1" sz="11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👨‍💼 Évolution des Compétences</a:t>
            </a:r>
          </a:p>
        </p:txBody>
      </p:sp>
      <p:sp>
        <p:nvSpPr>
          <p:cNvPr id="301" name="Text 17"/>
          <p:cNvSpPr txBox="1"/>
          <p:nvPr/>
        </p:nvSpPr>
        <p:spPr>
          <a:xfrm>
            <a:off x="561974" y="3624262"/>
            <a:ext cx="3881344" cy="32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Ère du "collaborateur augmenté". Nouveaux métiers avec rémunérations +15-20% supérieures. Formation continue essentielle.</a:t>
            </a:r>
          </a:p>
        </p:txBody>
      </p:sp>
      <p:sp>
        <p:nvSpPr>
          <p:cNvPr id="302" name="Text 18"/>
          <p:cNvSpPr/>
          <p:nvPr/>
        </p:nvSpPr>
        <p:spPr>
          <a:xfrm>
            <a:off x="4633912" y="3233738"/>
            <a:ext cx="4129089" cy="876301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3" name="Shape 19"/>
          <p:cNvSpPr/>
          <p:nvPr/>
        </p:nvSpPr>
        <p:spPr>
          <a:xfrm>
            <a:off x="4652962" y="3233738"/>
            <a:ext cx="1" cy="876301"/>
          </a:xfrm>
          <a:prstGeom prst="line">
            <a:avLst/>
          </a:prstGeom>
          <a:ln w="38100">
            <a:solidFill>
              <a:srgbClr val="1A5FA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4" name="Text 20"/>
          <p:cNvSpPr txBox="1"/>
          <p:nvPr/>
        </p:nvSpPr>
        <p:spPr>
          <a:xfrm>
            <a:off x="4814887" y="3376612"/>
            <a:ext cx="3881344" cy="186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600"/>
              </a:spcBef>
              <a:defRPr b="1" sz="11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💰 Réduction des Coûts</a:t>
            </a:r>
          </a:p>
        </p:txBody>
      </p:sp>
      <p:sp>
        <p:nvSpPr>
          <p:cNvPr id="305" name="Text 21"/>
          <p:cNvSpPr txBox="1"/>
          <p:nvPr/>
        </p:nvSpPr>
        <p:spPr>
          <a:xfrm>
            <a:off x="4814887" y="3624262"/>
            <a:ext cx="3881344" cy="32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Économies substantielles 15-30% sur coûts opérationnels. Amélioration rentabilité et réinvestissement dans l'innovation.</a:t>
            </a:r>
          </a:p>
        </p:txBody>
      </p:sp>
      <p:sp>
        <p:nvSpPr>
          <p:cNvPr id="306" name="Text 22"/>
          <p:cNvSpPr/>
          <p:nvPr/>
        </p:nvSpPr>
        <p:spPr>
          <a:xfrm>
            <a:off x="381000" y="4311822"/>
            <a:ext cx="8382001" cy="419101"/>
          </a:xfrm>
          <a:prstGeom prst="roundRect">
            <a:avLst>
              <a:gd name="adj" fmla="val 13636"/>
            </a:avLst>
          </a:prstGeom>
          <a:solidFill>
            <a:srgbClr val="FFF3E0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07" name="Shape 23"/>
          <p:cNvSpPr/>
          <p:nvPr/>
        </p:nvSpPr>
        <p:spPr>
          <a:xfrm flipH="1">
            <a:off x="400049" y="4317574"/>
            <a:ext cx="2" cy="419101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24"/>
          <p:cNvSpPr txBox="1"/>
          <p:nvPr/>
        </p:nvSpPr>
        <p:spPr>
          <a:xfrm>
            <a:off x="542925" y="4435647"/>
            <a:ext cx="8258175" cy="156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defRPr b="1" sz="9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74% des entreprises françaises misent sur l'IA</a:t>
            </a:r>
            <a:r>
              <a:rPr b="0"/>
              <a:t> pour leur compétitivité future - l'IA est perçue comme facteur clé de succès stratégique</a:t>
            </a:r>
          </a:p>
        </p:txBody>
      </p:sp>
      <p:sp>
        <p:nvSpPr>
          <p:cNvPr id="309" name="Text 25"/>
          <p:cNvSpPr txBox="1"/>
          <p:nvPr/>
        </p:nvSpPr>
        <p:spPr>
          <a:xfrm>
            <a:off x="380999" y="4772025"/>
            <a:ext cx="4457898" cy="12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6C75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L'IA entraîne des transformations structurelles profondes des modèles économiques et organisationnels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Text 0"/>
          <p:cNvSpPr txBox="1"/>
          <p:nvPr/>
        </p:nvSpPr>
        <p:spPr>
          <a:xfrm>
            <a:off x="380999" y="766762"/>
            <a:ext cx="5703001" cy="321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25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Cas Pratique : Agent de Réservation</a:t>
            </a:r>
          </a:p>
        </p:txBody>
      </p:sp>
      <p:sp>
        <p:nvSpPr>
          <p:cNvPr id="312" name="Text 1"/>
          <p:cNvSpPr/>
          <p:nvPr/>
        </p:nvSpPr>
        <p:spPr>
          <a:xfrm>
            <a:off x="381000" y="1128712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31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1481137"/>
            <a:ext cx="8382000" cy="781051"/>
          </a:xfrm>
          <a:prstGeom prst="rect">
            <a:avLst/>
          </a:prstGeom>
          <a:ln w="12700">
            <a:miter lim="400000"/>
          </a:ln>
        </p:spPr>
      </p:pic>
      <p:sp>
        <p:nvSpPr>
          <p:cNvPr id="314" name="Text 2"/>
          <p:cNvSpPr txBox="1"/>
          <p:nvPr/>
        </p:nvSpPr>
        <p:spPr>
          <a:xfrm>
            <a:off x="552450" y="1652588"/>
            <a:ext cx="4109657" cy="187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500"/>
              </a:lnSpc>
              <a:spcBef>
                <a:spcPts val="600"/>
              </a:spcBef>
              <a:defRPr b="1" sz="13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Problématique</a:t>
            </a:r>
          </a:p>
        </p:txBody>
      </p:sp>
      <p:sp>
        <p:nvSpPr>
          <p:cNvPr id="315" name="Text 3"/>
          <p:cNvSpPr txBox="1"/>
          <p:nvPr/>
        </p:nvSpPr>
        <p:spPr>
          <a:xfrm>
            <a:off x="552450" y="1919288"/>
            <a:ext cx="8199881" cy="156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 gestion manuelle des réservations présente des limitations : manque de visibilité, réactivité insuffisante, risques d'erreurs, charge de travail importante.</a:t>
            </a:r>
          </a:p>
        </p:txBody>
      </p:sp>
      <p:sp>
        <p:nvSpPr>
          <p:cNvPr id="316" name="Text 4"/>
          <p:cNvSpPr/>
          <p:nvPr/>
        </p:nvSpPr>
        <p:spPr>
          <a:xfrm>
            <a:off x="381000" y="2395538"/>
            <a:ext cx="4124325" cy="1417291"/>
          </a:xfrm>
          <a:prstGeom prst="roundRect">
            <a:avLst>
              <a:gd name="adj" fmla="val 5376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17" name="Shape 5"/>
          <p:cNvSpPr/>
          <p:nvPr/>
        </p:nvSpPr>
        <p:spPr>
          <a:xfrm>
            <a:off x="381000" y="2414588"/>
            <a:ext cx="4124325" cy="1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Text 6"/>
          <p:cNvSpPr txBox="1"/>
          <p:nvPr/>
        </p:nvSpPr>
        <p:spPr>
          <a:xfrm>
            <a:off x="514350" y="2566988"/>
            <a:ext cx="3934777" cy="171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600"/>
              </a:spcBef>
              <a:defRPr b="1" sz="10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🎯 Objectif du Projet</a:t>
            </a:r>
          </a:p>
        </p:txBody>
      </p:sp>
      <p:sp>
        <p:nvSpPr>
          <p:cNvPr id="319" name="Text 7"/>
          <p:cNvSpPr txBox="1"/>
          <p:nvPr/>
        </p:nvSpPr>
        <p:spPr>
          <a:xfrm>
            <a:off x="600075" y="2803177"/>
            <a:ext cx="3771900" cy="78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Agent conversationnel en langage naturel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Analyse temps réel du planning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Proposition du créneau optimal</a:t>
            </a:r>
          </a:p>
        </p:txBody>
      </p:sp>
      <p:sp>
        <p:nvSpPr>
          <p:cNvPr id="320" name="Text 8"/>
          <p:cNvSpPr/>
          <p:nvPr/>
        </p:nvSpPr>
        <p:spPr>
          <a:xfrm>
            <a:off x="4638675" y="2395538"/>
            <a:ext cx="4124325" cy="1417291"/>
          </a:xfrm>
          <a:prstGeom prst="roundRect">
            <a:avLst>
              <a:gd name="adj" fmla="val 5376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1" name="Shape 9"/>
          <p:cNvSpPr/>
          <p:nvPr/>
        </p:nvSpPr>
        <p:spPr>
          <a:xfrm>
            <a:off x="4638675" y="2414588"/>
            <a:ext cx="4124325" cy="1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10"/>
          <p:cNvSpPr txBox="1"/>
          <p:nvPr/>
        </p:nvSpPr>
        <p:spPr>
          <a:xfrm>
            <a:off x="4772025" y="2566988"/>
            <a:ext cx="3934777" cy="171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600"/>
              </a:spcBef>
              <a:defRPr b="1" sz="10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🏗️ Architecture Technique</a:t>
            </a:r>
          </a:p>
        </p:txBody>
      </p:sp>
      <p:sp>
        <p:nvSpPr>
          <p:cNvPr id="323" name="Text 11"/>
          <p:cNvSpPr txBox="1"/>
          <p:nvPr/>
        </p:nvSpPr>
        <p:spPr>
          <a:xfrm>
            <a:off x="4857750" y="2803177"/>
            <a:ext cx="3771900" cy="7817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Backend : Python + FastAPI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Architecture BDI complète</a:t>
            </a:r>
          </a:p>
          <a:p>
            <a:pPr marL="85725" indent="-85725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Frontend web (chatbot + admin)</a:t>
            </a:r>
          </a:p>
        </p:txBody>
      </p:sp>
      <p:sp>
        <p:nvSpPr>
          <p:cNvPr id="324" name="Text 12"/>
          <p:cNvSpPr/>
          <p:nvPr/>
        </p:nvSpPr>
        <p:spPr>
          <a:xfrm>
            <a:off x="381000" y="3927128"/>
            <a:ext cx="8382000" cy="639962"/>
          </a:xfrm>
          <a:prstGeom prst="roundRect">
            <a:avLst>
              <a:gd name="adj" fmla="val 11907"/>
            </a:avLst>
          </a:prstGeom>
          <a:solidFill>
            <a:srgbClr val="FFF3E0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25" name="Shape 13"/>
          <p:cNvSpPr/>
          <p:nvPr/>
        </p:nvSpPr>
        <p:spPr>
          <a:xfrm flipH="1">
            <a:off x="400049" y="3927128"/>
            <a:ext cx="1" cy="639962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6" name="Text 14"/>
          <p:cNvSpPr txBox="1"/>
          <p:nvPr/>
        </p:nvSpPr>
        <p:spPr>
          <a:xfrm>
            <a:off x="552450" y="4060478"/>
            <a:ext cx="339435" cy="383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900"/>
              </a:lnSpc>
              <a:defRPr sz="21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🤖</a:t>
            </a:r>
          </a:p>
        </p:txBody>
      </p:sp>
      <p:sp>
        <p:nvSpPr>
          <p:cNvPr id="327" name="Text 15"/>
          <p:cNvSpPr txBox="1"/>
          <p:nvPr/>
        </p:nvSpPr>
        <p:spPr>
          <a:xfrm>
            <a:off x="999529" y="4060478"/>
            <a:ext cx="5760079" cy="135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Fonctionnement de l'Agent</a:t>
            </a:r>
          </a:p>
        </p:txBody>
      </p:sp>
      <p:sp>
        <p:nvSpPr>
          <p:cNvPr id="328" name="Text 16"/>
          <p:cNvSpPr txBox="1"/>
          <p:nvPr/>
        </p:nvSpPr>
        <p:spPr>
          <a:xfrm>
            <a:off x="999529" y="4266157"/>
            <a:ext cx="5760079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Perçoit</a:t>
            </a:r>
            <a:r>
              <a:rPr b="0"/>
              <a:t> demandes clients et état créneaux • </a:t>
            </a:r>
            <a:r>
              <a:t>Raisonne</a:t>
            </a:r>
            <a:r>
              <a:rPr b="0"/>
              <a:t> sur disponibilités et contraintes • </a:t>
            </a:r>
            <a:r>
              <a:t>Agit</a:t>
            </a:r>
            <a:r>
              <a:rPr b="0"/>
              <a:t> en proposant et enregistrant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Text 0"/>
          <p:cNvSpPr txBox="1"/>
          <p:nvPr/>
        </p:nvSpPr>
        <p:spPr>
          <a:xfrm>
            <a:off x="381000" y="662879"/>
            <a:ext cx="7393496" cy="346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700"/>
              </a:lnSpc>
              <a:defRPr b="1" sz="27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Architecture BDI : Beliefs-Desires-Intentions</a:t>
            </a:r>
          </a:p>
        </p:txBody>
      </p:sp>
      <p:sp>
        <p:nvSpPr>
          <p:cNvPr id="331" name="Text 1"/>
          <p:cNvSpPr/>
          <p:nvPr/>
        </p:nvSpPr>
        <p:spPr>
          <a:xfrm>
            <a:off x="381000" y="1081979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2" name="Text 2"/>
          <p:cNvSpPr/>
          <p:nvPr/>
        </p:nvSpPr>
        <p:spPr>
          <a:xfrm>
            <a:off x="370331" y="1384699"/>
            <a:ext cx="8382001" cy="640409"/>
          </a:xfrm>
          <a:prstGeom prst="roundRect">
            <a:avLst>
              <a:gd name="adj" fmla="val 9903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3" name="Text 3"/>
          <p:cNvSpPr txBox="1"/>
          <p:nvPr/>
        </p:nvSpPr>
        <p:spPr>
          <a:xfrm>
            <a:off x="573785" y="1495723"/>
            <a:ext cx="7902001" cy="392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600"/>
              </a:lnSpc>
              <a:defRPr sz="10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L'architecture BDI modélise le raisonnement d'un agent selon </a:t>
            </a:r>
            <a:r>
              <a:rPr b="1">
                <a:solidFill>
                  <a:srgbClr val="003D7A"/>
                </a:solidFill>
              </a:rPr>
              <a:t>trois composantes fondamentales</a:t>
            </a:r>
            <a:r>
              <a:t> inspirées de la philosophie de l'action humaine.</a:t>
            </a:r>
          </a:p>
        </p:txBody>
      </p:sp>
      <p:pic>
        <p:nvPicPr>
          <p:cNvPr id="33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2209576"/>
            <a:ext cx="2692450" cy="2206303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Text 4"/>
          <p:cNvSpPr/>
          <p:nvPr/>
        </p:nvSpPr>
        <p:spPr>
          <a:xfrm>
            <a:off x="567401" y="2339511"/>
            <a:ext cx="571501" cy="571501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36" name="Text 5"/>
          <p:cNvSpPr txBox="1"/>
          <p:nvPr/>
        </p:nvSpPr>
        <p:spPr>
          <a:xfrm>
            <a:off x="659144" y="2435872"/>
            <a:ext cx="388015" cy="430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300"/>
              </a:lnSpc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💭</a:t>
            </a:r>
          </a:p>
        </p:txBody>
      </p:sp>
      <p:sp>
        <p:nvSpPr>
          <p:cNvPr id="337" name="Text 6"/>
          <p:cNvSpPr txBox="1"/>
          <p:nvPr/>
        </p:nvSpPr>
        <p:spPr>
          <a:xfrm>
            <a:off x="573786" y="3023111"/>
            <a:ext cx="1185292" cy="202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700"/>
              </a:spcBef>
              <a:defRPr b="1" sz="15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BELIEFS</a:t>
            </a:r>
          </a:p>
        </p:txBody>
      </p:sp>
      <p:sp>
        <p:nvSpPr>
          <p:cNvPr id="338" name="Text 7"/>
          <p:cNvSpPr txBox="1"/>
          <p:nvPr/>
        </p:nvSpPr>
        <p:spPr>
          <a:xfrm>
            <a:off x="580237" y="3322580"/>
            <a:ext cx="2357679" cy="148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6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Croyances</a:t>
            </a:r>
          </a:p>
        </p:txBody>
      </p:sp>
      <p:sp>
        <p:nvSpPr>
          <p:cNvPr id="339" name="Text 8"/>
          <p:cNvSpPr txBox="1"/>
          <p:nvPr/>
        </p:nvSpPr>
        <p:spPr>
          <a:xfrm>
            <a:off x="580235" y="3576125"/>
            <a:ext cx="2357680" cy="651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FFFFFF">
                    <a:alpha val="9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Représentation de l'état du monde connu par l'agent : configuration système, état des réservations, règles spéciales, données clients.</a:t>
            </a:r>
          </a:p>
        </p:txBody>
      </p:sp>
      <p:pic>
        <p:nvPicPr>
          <p:cNvPr id="34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35706" y="2209576"/>
            <a:ext cx="2692451" cy="2206303"/>
          </a:xfrm>
          <a:prstGeom prst="rect">
            <a:avLst/>
          </a:prstGeom>
          <a:ln w="12700">
            <a:miter lim="400000"/>
          </a:ln>
        </p:spPr>
      </p:pic>
      <p:sp>
        <p:nvSpPr>
          <p:cNvPr id="341" name="Text 9"/>
          <p:cNvSpPr/>
          <p:nvPr/>
        </p:nvSpPr>
        <p:spPr>
          <a:xfrm>
            <a:off x="3416349" y="2346723"/>
            <a:ext cx="571501" cy="571501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42" name="Text 10"/>
          <p:cNvSpPr txBox="1"/>
          <p:nvPr/>
        </p:nvSpPr>
        <p:spPr>
          <a:xfrm>
            <a:off x="3511896" y="2401740"/>
            <a:ext cx="388014" cy="430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300"/>
              </a:lnSpc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🎯</a:t>
            </a:r>
          </a:p>
        </p:txBody>
      </p:sp>
      <p:sp>
        <p:nvSpPr>
          <p:cNvPr id="343" name="Text 11"/>
          <p:cNvSpPr txBox="1"/>
          <p:nvPr/>
        </p:nvSpPr>
        <p:spPr>
          <a:xfrm>
            <a:off x="3416349" y="3039963"/>
            <a:ext cx="1185293" cy="202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700"/>
              </a:spcBef>
              <a:defRPr b="1" sz="15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DESIRES</a:t>
            </a:r>
          </a:p>
        </p:txBody>
      </p:sp>
      <p:sp>
        <p:nvSpPr>
          <p:cNvPr id="344" name="Text 12"/>
          <p:cNvSpPr txBox="1"/>
          <p:nvPr/>
        </p:nvSpPr>
        <p:spPr>
          <a:xfrm>
            <a:off x="3425680" y="3312940"/>
            <a:ext cx="2357680" cy="148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6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Désirs</a:t>
            </a:r>
          </a:p>
        </p:txBody>
      </p:sp>
      <p:sp>
        <p:nvSpPr>
          <p:cNvPr id="345" name="Text 13"/>
          <p:cNvSpPr txBox="1"/>
          <p:nvPr/>
        </p:nvSpPr>
        <p:spPr>
          <a:xfrm>
            <a:off x="3425680" y="3534273"/>
            <a:ext cx="2357680" cy="651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FFFFFF">
                    <a:alpha val="9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Objectifs ou états souhaités : satisfaire demande client, respecter contraintes de capacité, équilibrer la charge, optimiser l'expérience.</a:t>
            </a:r>
          </a:p>
        </p:txBody>
      </p:sp>
      <p:pic>
        <p:nvPicPr>
          <p:cNvPr id="34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059882" y="2209576"/>
            <a:ext cx="2692451" cy="2206303"/>
          </a:xfrm>
          <a:prstGeom prst="rect">
            <a:avLst/>
          </a:prstGeom>
          <a:ln w="12700">
            <a:miter lim="400000"/>
          </a:ln>
        </p:spPr>
      </p:pic>
      <p:sp>
        <p:nvSpPr>
          <p:cNvPr id="347" name="Text 14"/>
          <p:cNvSpPr/>
          <p:nvPr/>
        </p:nvSpPr>
        <p:spPr>
          <a:xfrm>
            <a:off x="6224180" y="2327449"/>
            <a:ext cx="571501" cy="571501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48" name="Text 15"/>
          <p:cNvSpPr txBox="1"/>
          <p:nvPr/>
        </p:nvSpPr>
        <p:spPr>
          <a:xfrm>
            <a:off x="6285277" y="2419127"/>
            <a:ext cx="388014" cy="430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300"/>
              </a:lnSpc>
              <a:defRPr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✅</a:t>
            </a:r>
          </a:p>
        </p:txBody>
      </p:sp>
      <p:sp>
        <p:nvSpPr>
          <p:cNvPr id="349" name="Text 16"/>
          <p:cNvSpPr txBox="1"/>
          <p:nvPr/>
        </p:nvSpPr>
        <p:spPr>
          <a:xfrm>
            <a:off x="6254746" y="3025689"/>
            <a:ext cx="1185292" cy="2029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600"/>
              </a:lnSpc>
              <a:spcBef>
                <a:spcPts val="700"/>
              </a:spcBef>
              <a:defRPr b="1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INTENTIONS</a:t>
            </a:r>
          </a:p>
        </p:txBody>
      </p:sp>
      <p:sp>
        <p:nvSpPr>
          <p:cNvPr id="350" name="Text 17"/>
          <p:cNvSpPr txBox="1"/>
          <p:nvPr/>
        </p:nvSpPr>
        <p:spPr>
          <a:xfrm>
            <a:off x="6267798" y="3276012"/>
            <a:ext cx="2357680" cy="148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200"/>
              </a:lnSpc>
              <a:spcBef>
                <a:spcPts val="600"/>
              </a:spcBef>
              <a:defRPr b="1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Intentions</a:t>
            </a:r>
          </a:p>
        </p:txBody>
      </p:sp>
      <p:sp>
        <p:nvSpPr>
          <p:cNvPr id="351" name="Text 18"/>
          <p:cNvSpPr txBox="1"/>
          <p:nvPr/>
        </p:nvSpPr>
        <p:spPr>
          <a:xfrm>
            <a:off x="6267798" y="3539302"/>
            <a:ext cx="2357680" cy="486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FFFFFF">
                    <a:alpha val="95000"/>
                  </a:srgb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Plans concrets sélectionnés : créneaux choisis, scénario de dialogue, actions d'enregistrement, validation et sauvegarde.</a:t>
            </a:r>
          </a:p>
        </p:txBody>
      </p:sp>
      <p:sp>
        <p:nvSpPr>
          <p:cNvPr id="352" name="Text 19"/>
          <p:cNvSpPr/>
          <p:nvPr/>
        </p:nvSpPr>
        <p:spPr>
          <a:xfrm>
            <a:off x="381000" y="4530178"/>
            <a:ext cx="8382000" cy="375197"/>
          </a:xfrm>
          <a:prstGeom prst="roundRect">
            <a:avLst>
              <a:gd name="adj" fmla="val 15232"/>
            </a:avLst>
          </a:prstGeom>
          <a:solidFill>
            <a:srgbClr val="FFF3E0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3" name="Shape 20"/>
          <p:cNvSpPr/>
          <p:nvPr/>
        </p:nvSpPr>
        <p:spPr>
          <a:xfrm flipH="1">
            <a:off x="400049" y="4530178"/>
            <a:ext cx="2" cy="375197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21"/>
          <p:cNvSpPr txBox="1"/>
          <p:nvPr/>
        </p:nvSpPr>
        <p:spPr>
          <a:xfrm>
            <a:off x="533399" y="4644478"/>
            <a:ext cx="8277608" cy="13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100"/>
              </a:lnSpc>
              <a:defRPr b="1"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Avantage :</a:t>
            </a:r>
            <a:r>
              <a:rPr b="0"/>
              <a:t> L'agent raisonne de manière flexible et adaptative plutôt que de suivre des règles rigides prédéfinies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 0"/>
          <p:cNvSpPr txBox="1"/>
          <p:nvPr/>
        </p:nvSpPr>
        <p:spPr>
          <a:xfrm>
            <a:off x="381000" y="367308"/>
            <a:ext cx="4993767" cy="3212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25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Logique de l'Agent : Algorithme</a:t>
            </a:r>
          </a:p>
        </p:txBody>
      </p:sp>
      <p:sp>
        <p:nvSpPr>
          <p:cNvPr id="357" name="Text 1"/>
          <p:cNvSpPr/>
          <p:nvPr/>
        </p:nvSpPr>
        <p:spPr>
          <a:xfrm>
            <a:off x="381000" y="729258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58" name="Shape 8"/>
          <p:cNvSpPr/>
          <p:nvPr/>
        </p:nvSpPr>
        <p:spPr>
          <a:xfrm flipH="1">
            <a:off x="400050" y="3956298"/>
            <a:ext cx="1" cy="1010395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pic>
        <p:nvPicPr>
          <p:cNvPr id="359" name="Image 1" descr="Imag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9444" y="4029970"/>
            <a:ext cx="5420501" cy="718444"/>
          </a:xfrm>
          <a:prstGeom prst="rect">
            <a:avLst/>
          </a:prstGeom>
          <a:ln w="12700">
            <a:miter lim="400000"/>
          </a:ln>
        </p:spPr>
      </p:pic>
      <p:sp>
        <p:nvSpPr>
          <p:cNvPr id="360" name="Text 27"/>
          <p:cNvSpPr txBox="1"/>
          <p:nvPr/>
        </p:nvSpPr>
        <p:spPr>
          <a:xfrm>
            <a:off x="2184835" y="4218318"/>
            <a:ext cx="3973641" cy="176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spcBef>
                <a:spcPts val="300"/>
              </a:spcBef>
              <a:defRPr b="1" sz="15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🎯 Résultat</a:t>
            </a:r>
          </a:p>
        </p:txBody>
      </p:sp>
      <p:sp>
        <p:nvSpPr>
          <p:cNvPr id="361" name="Text 28"/>
          <p:cNvSpPr txBox="1"/>
          <p:nvPr/>
        </p:nvSpPr>
        <p:spPr>
          <a:xfrm>
            <a:off x="2212811" y="4500763"/>
            <a:ext cx="4993767" cy="1312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000"/>
              </a:lnSpc>
              <a:defRPr sz="11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Créneau maximisant satisfaction client et optimisant répartition charge</a:t>
            </a:r>
          </a:p>
        </p:txBody>
      </p:sp>
      <p:pic>
        <p:nvPicPr>
          <p:cNvPr id="36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8148" y="920771"/>
            <a:ext cx="8431278" cy="24523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 txBox="1"/>
          <p:nvPr/>
        </p:nvSpPr>
        <p:spPr>
          <a:xfrm>
            <a:off x="380999" y="444102"/>
            <a:ext cx="4284538" cy="321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25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365" name="Text 1"/>
          <p:cNvSpPr/>
          <p:nvPr/>
        </p:nvSpPr>
        <p:spPr>
          <a:xfrm>
            <a:off x="381000" y="806052"/>
            <a:ext cx="8382000" cy="28576"/>
          </a:xfrm>
          <a:prstGeom prst="rect">
            <a:avLst/>
          </a:prstGeom>
          <a:solidFill>
            <a:srgbClr val="D4A574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pic>
        <p:nvPicPr>
          <p:cNvPr id="36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1000" y="1158478"/>
            <a:ext cx="8382000" cy="893118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Text 2"/>
          <p:cNvSpPr txBox="1"/>
          <p:nvPr/>
        </p:nvSpPr>
        <p:spPr>
          <a:xfrm>
            <a:off x="533400" y="1310878"/>
            <a:ext cx="41290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spcBef>
                <a:spcPts val="600"/>
              </a:spcBef>
              <a:defRPr b="1" sz="1200">
                <a:solidFill>
                  <a:srgbClr val="D4A57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L'IA comme Catalyseur de Transformation</a:t>
            </a:r>
          </a:p>
        </p:txBody>
      </p:sp>
      <p:sp>
        <p:nvSpPr>
          <p:cNvPr id="368" name="Text 3"/>
          <p:cNvSpPr txBox="1"/>
          <p:nvPr/>
        </p:nvSpPr>
        <p:spPr>
          <a:xfrm>
            <a:off x="533400" y="1556295"/>
            <a:ext cx="8238743" cy="32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Les agents intelligents incarnent la convergence de décennies de recherche. Leur déploiement réussi nécessite des fondations solides : technologie, données, compétences, éthique et sécurité.</a:t>
            </a:r>
          </a:p>
        </p:txBody>
      </p:sp>
      <p:sp>
        <p:nvSpPr>
          <p:cNvPr id="369" name="Text 4"/>
          <p:cNvSpPr/>
          <p:nvPr/>
        </p:nvSpPr>
        <p:spPr>
          <a:xfrm>
            <a:off x="381000" y="2165896"/>
            <a:ext cx="4133850" cy="1615381"/>
          </a:xfrm>
          <a:prstGeom prst="roundRect">
            <a:avLst>
              <a:gd name="adj" fmla="val 4717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0" name="Shape 5"/>
          <p:cNvSpPr/>
          <p:nvPr/>
        </p:nvSpPr>
        <p:spPr>
          <a:xfrm flipH="1">
            <a:off x="400049" y="2165896"/>
            <a:ext cx="2" cy="1615381"/>
          </a:xfrm>
          <a:prstGeom prst="line">
            <a:avLst/>
          </a:prstGeom>
          <a:ln w="38100">
            <a:solidFill>
              <a:srgbClr val="003D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Text 6"/>
          <p:cNvSpPr txBox="1"/>
          <p:nvPr/>
        </p:nvSpPr>
        <p:spPr>
          <a:xfrm>
            <a:off x="533400" y="2280196"/>
            <a:ext cx="3944493" cy="1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✅ Opportunités</a:t>
            </a:r>
          </a:p>
        </p:txBody>
      </p:sp>
      <p:sp>
        <p:nvSpPr>
          <p:cNvPr id="372" name="Text 7"/>
          <p:cNvSpPr txBox="1"/>
          <p:nvPr/>
        </p:nvSpPr>
        <p:spPr>
          <a:xfrm>
            <a:off x="609600" y="2485875"/>
            <a:ext cx="3790950" cy="1048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76200" indent="-76200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Gains productivité +20-30%</a:t>
            </a:r>
          </a:p>
          <a:p>
            <a:pPr marL="76200" indent="-76200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Réduction coûts -15-25%</a:t>
            </a:r>
          </a:p>
          <a:p>
            <a:pPr marL="76200" indent="-76200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Personnalisation à l'échelle</a:t>
            </a:r>
          </a:p>
          <a:p>
            <a:pPr marL="76200" indent="-76200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Avantages concurrentiels</a:t>
            </a:r>
          </a:p>
        </p:txBody>
      </p:sp>
      <p:sp>
        <p:nvSpPr>
          <p:cNvPr id="373" name="Text 8"/>
          <p:cNvSpPr/>
          <p:nvPr/>
        </p:nvSpPr>
        <p:spPr>
          <a:xfrm>
            <a:off x="4629150" y="2165896"/>
            <a:ext cx="4133850" cy="1615381"/>
          </a:xfrm>
          <a:prstGeom prst="roundRect">
            <a:avLst>
              <a:gd name="adj" fmla="val 4717"/>
            </a:avLst>
          </a:prstGeom>
          <a:solidFill>
            <a:srgbClr val="F8F9FA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4" name="Shape 9"/>
          <p:cNvSpPr/>
          <p:nvPr/>
        </p:nvSpPr>
        <p:spPr>
          <a:xfrm>
            <a:off x="4648200" y="2165896"/>
            <a:ext cx="1" cy="1615381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 10"/>
          <p:cNvSpPr txBox="1"/>
          <p:nvPr/>
        </p:nvSpPr>
        <p:spPr>
          <a:xfrm>
            <a:off x="4781550" y="2280196"/>
            <a:ext cx="3944493" cy="156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4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⚠️ Défis</a:t>
            </a:r>
          </a:p>
        </p:txBody>
      </p:sp>
      <p:sp>
        <p:nvSpPr>
          <p:cNvPr id="376" name="Text 11"/>
          <p:cNvSpPr txBox="1"/>
          <p:nvPr/>
        </p:nvSpPr>
        <p:spPr>
          <a:xfrm>
            <a:off x="4857750" y="2485875"/>
            <a:ext cx="3790950" cy="1048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76200" indent="-76200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Biais algorithmiques</a:t>
            </a:r>
          </a:p>
          <a:p>
            <a:pPr marL="76200" indent="-76200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Transformation emplois</a:t>
            </a:r>
          </a:p>
          <a:p>
            <a:pPr marL="76200" indent="-76200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Vulnérabilités cyber</a:t>
            </a:r>
          </a:p>
          <a:p>
            <a:pPr marL="76200" indent="-76200">
              <a:lnSpc>
                <a:spcPts val="2100"/>
              </a:lnSpc>
              <a:buSzPct val="100000"/>
              <a:buChar char="•"/>
              <a:defRPr sz="13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Régulation (RGPD, AI Act)</a:t>
            </a:r>
          </a:p>
        </p:txBody>
      </p:sp>
      <p:sp>
        <p:nvSpPr>
          <p:cNvPr id="377" name="Text 12"/>
          <p:cNvSpPr/>
          <p:nvPr/>
        </p:nvSpPr>
        <p:spPr>
          <a:xfrm>
            <a:off x="381000" y="3895576"/>
            <a:ext cx="8382000" cy="693391"/>
          </a:xfrm>
          <a:prstGeom prst="roundRect">
            <a:avLst>
              <a:gd name="adj" fmla="val 10989"/>
            </a:avLst>
          </a:prstGeom>
          <a:solidFill>
            <a:srgbClr val="FFF3E0"/>
          </a:solidFill>
          <a:ln w="12700">
            <a:miter lim="400000"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378" name="Shape 13"/>
          <p:cNvSpPr/>
          <p:nvPr/>
        </p:nvSpPr>
        <p:spPr>
          <a:xfrm flipH="1">
            <a:off x="400049" y="3895576"/>
            <a:ext cx="1" cy="693391"/>
          </a:xfrm>
          <a:prstGeom prst="line">
            <a:avLst/>
          </a:prstGeom>
          <a:ln w="38100">
            <a:solidFill>
              <a:srgbClr val="D4A57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Text 14"/>
          <p:cNvSpPr txBox="1"/>
          <p:nvPr/>
        </p:nvSpPr>
        <p:spPr>
          <a:xfrm>
            <a:off x="552450" y="4028926"/>
            <a:ext cx="388014" cy="430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300"/>
              </a:lnSpc>
              <a:defRPr sz="24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🚀</a:t>
            </a:r>
          </a:p>
        </p:txBody>
      </p:sp>
      <p:sp>
        <p:nvSpPr>
          <p:cNvPr id="380" name="Text 15"/>
          <p:cNvSpPr txBox="1"/>
          <p:nvPr/>
        </p:nvSpPr>
        <p:spPr>
          <a:xfrm>
            <a:off x="1047154" y="4070896"/>
            <a:ext cx="5835526" cy="135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spcBef>
                <a:spcPts val="300"/>
              </a:spcBef>
              <a:defRPr b="1" sz="9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L'Avenir</a:t>
            </a:r>
          </a:p>
        </p:txBody>
      </p:sp>
      <p:sp>
        <p:nvSpPr>
          <p:cNvPr id="381" name="Text 16"/>
          <p:cNvSpPr txBox="1"/>
          <p:nvPr/>
        </p:nvSpPr>
        <p:spPr>
          <a:xfrm>
            <a:off x="1047154" y="4267051"/>
            <a:ext cx="5835526" cy="133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100"/>
              </a:lnSpc>
              <a:defRPr sz="800">
                <a:solidFill>
                  <a:srgbClr val="1D1D1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74% des entreprises françaises misent sur l'IA pour leur compétitivité. Succès = maximiser opportunités + maîtriser risques.</a:t>
            </a:r>
          </a:p>
        </p:txBody>
      </p:sp>
      <p:sp>
        <p:nvSpPr>
          <p:cNvPr id="382" name="Text 17"/>
          <p:cNvSpPr txBox="1"/>
          <p:nvPr/>
        </p:nvSpPr>
        <p:spPr>
          <a:xfrm>
            <a:off x="297179" y="4703266"/>
            <a:ext cx="8549642" cy="16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400"/>
              </a:lnSpc>
              <a:defRPr b="1" sz="1000">
                <a:solidFill>
                  <a:srgbClr val="003D7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Merci de votre attention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Aptos"/>
        <a:ea typeface="Aptos"/>
        <a:cs typeface="Aptos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